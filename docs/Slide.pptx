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82" r:id="rId2"/>
    <p:sldId id="411" r:id="rId3"/>
    <p:sldId id="410" r:id="rId4"/>
    <p:sldId id="412" r:id="rId5"/>
    <p:sldId id="421" r:id="rId6"/>
    <p:sldId id="414" r:id="rId7"/>
    <p:sldId id="420" r:id="rId8"/>
    <p:sldId id="416" r:id="rId9"/>
    <p:sldId id="417" r:id="rId10"/>
    <p:sldId id="413" r:id="rId11"/>
    <p:sldId id="399" r:id="rId12"/>
    <p:sldId id="287" r:id="rId13"/>
    <p:sldId id="299" r:id="rId14"/>
    <p:sldId id="298" r:id="rId15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CDE"/>
    <a:srgbClr val="CB333B"/>
    <a:srgbClr val="FFC72C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A9F66-85AA-5E4E-A982-08B4D60614F9}" v="122" dt="2025-06-03T14:03:15.348"/>
    <p1510:client id="{352F4FE5-887B-893C-C694-D7B06902D6B0}" v="27" dt="2025-06-03T21:59:39.266"/>
  </p1510:revLst>
</p1510:revInfo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Stile chiaro 1 - Color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Stile chiaro 2 - Color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Stile medio 1 - Color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Stile chiaro 3 - Color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1EBBBCC-DAD2-459C-BE2E-F6DE35CF9A28}" styleName="Stile scuro 2 - Colore 3/Color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Stile chiaro 3 - Color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2838BEF-8BB2-4498-84A7-C5851F593DF1}" styleName="Stile medio 4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Stile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Stile chi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Stile 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Stile scuro 2 - Colore 1/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Stile scuro 2 - Colore 5/Color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25E5076-3810-47DD-B79F-674D7AD40C01}" styleName="Stile scuro 1 - Color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344D84-9AFB-497E-A393-DC336BA19D2E}" styleName="Stile medio 3 - Color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A111915-BE36-4E01-A7E5-04B1672EAD32}" styleName="Stile chiaro 2 - Color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35"/>
  </p:normalViewPr>
  <p:slideViewPr>
    <p:cSldViewPr snapToGrid="0">
      <p:cViewPr varScale="1">
        <p:scale>
          <a:sx n="102" d="100"/>
          <a:sy n="102" d="100"/>
        </p:scale>
        <p:origin x="216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A3BF84-62BD-8B4D-9115-D5C002538D9C}" type="doc">
      <dgm:prSet loTypeId="urn:microsoft.com/office/officeart/2005/8/layout/cycle4" loCatId="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4E51985B-0E6A-2C45-B77E-23C6337B9797}">
      <dgm:prSet phldrT="[Testo]"/>
      <dgm:spPr/>
      <dgm:t>
        <a:bodyPr/>
        <a:lstStyle/>
        <a:p>
          <a:r>
            <a:rPr lang="en-GB" noProof="0"/>
            <a:t>Data Used</a:t>
          </a:r>
        </a:p>
      </dgm:t>
    </dgm:pt>
    <dgm:pt modelId="{42FC593B-4596-AD44-8C4D-BBBA463726AF}" type="parTrans" cxnId="{A1D2AE1F-D431-FC41-B1ED-7D4F9990EC0F}">
      <dgm:prSet/>
      <dgm:spPr/>
      <dgm:t>
        <a:bodyPr/>
        <a:lstStyle/>
        <a:p>
          <a:endParaRPr lang="it-IT"/>
        </a:p>
      </dgm:t>
    </dgm:pt>
    <dgm:pt modelId="{22BE3CCA-01B6-1F43-9466-511FDC8CEC1D}" type="sibTrans" cxnId="{A1D2AE1F-D431-FC41-B1ED-7D4F9990EC0F}">
      <dgm:prSet/>
      <dgm:spPr/>
      <dgm:t>
        <a:bodyPr/>
        <a:lstStyle/>
        <a:p>
          <a:endParaRPr lang="it-IT"/>
        </a:p>
      </dgm:t>
    </dgm:pt>
    <dgm:pt modelId="{1F0CBCFF-1B29-1847-A878-4C9C3D07CB4B}">
      <dgm:prSet phldrT="[Testo]" custT="1"/>
      <dgm:spPr/>
      <dgm:t>
        <a:bodyPr anchor="ctr" anchorCtr="1"/>
        <a:lstStyle/>
        <a:p>
          <a:r>
            <a:rPr lang="en-GB" sz="1100" noProof="0"/>
            <a:t>The model is trained and evaluated on a public cranial CT scans, each annotated with 14 mandibular anatomical landmarks.</a:t>
          </a:r>
        </a:p>
      </dgm:t>
    </dgm:pt>
    <dgm:pt modelId="{92051893-3B2D-3546-B7DA-58BB6E382737}" type="parTrans" cxnId="{36A159A2-5500-7A47-B55F-1F94DB82E4DA}">
      <dgm:prSet/>
      <dgm:spPr/>
      <dgm:t>
        <a:bodyPr/>
        <a:lstStyle/>
        <a:p>
          <a:endParaRPr lang="it-IT"/>
        </a:p>
      </dgm:t>
    </dgm:pt>
    <dgm:pt modelId="{28F218FB-F7EF-BD4C-8FA5-5AE2E55D233F}" type="sibTrans" cxnId="{36A159A2-5500-7A47-B55F-1F94DB82E4DA}">
      <dgm:prSet/>
      <dgm:spPr/>
      <dgm:t>
        <a:bodyPr/>
        <a:lstStyle/>
        <a:p>
          <a:endParaRPr lang="it-IT"/>
        </a:p>
      </dgm:t>
    </dgm:pt>
    <dgm:pt modelId="{D822CA6F-EF73-2140-9F29-BAEEC9FB4D15}">
      <dgm:prSet phldrT="[Testo]"/>
      <dgm:spPr/>
      <dgm:t>
        <a:bodyPr/>
        <a:lstStyle/>
        <a:p>
          <a:r>
            <a:rPr lang="en-GB" noProof="0"/>
            <a:t>Performance Evaluation Metrics</a:t>
          </a:r>
        </a:p>
      </dgm:t>
    </dgm:pt>
    <dgm:pt modelId="{925A8BE6-3097-A54E-A9BF-F5A7D650AE35}" type="parTrans" cxnId="{F0B5E94A-45FF-7947-AED4-E144B049CE9F}">
      <dgm:prSet/>
      <dgm:spPr/>
      <dgm:t>
        <a:bodyPr/>
        <a:lstStyle/>
        <a:p>
          <a:endParaRPr lang="it-IT"/>
        </a:p>
      </dgm:t>
    </dgm:pt>
    <dgm:pt modelId="{83CF7DA4-4175-B04A-B093-9A1AC99F75B8}" type="sibTrans" cxnId="{F0B5E94A-45FF-7947-AED4-E144B049CE9F}">
      <dgm:prSet/>
      <dgm:spPr/>
      <dgm:t>
        <a:bodyPr/>
        <a:lstStyle/>
        <a:p>
          <a:endParaRPr lang="it-IT"/>
        </a:p>
      </dgm:t>
    </dgm:pt>
    <dgm:pt modelId="{DB73EBB8-7D0C-0C44-9BC3-0AFB389C17A3}">
      <dgm:prSet phldrT="[Testo]"/>
      <dgm:spPr/>
      <dgm:t>
        <a:bodyPr/>
        <a:lstStyle/>
        <a:p>
          <a:r>
            <a:rPr lang="en-GB" noProof="0"/>
            <a:t>Deep Learning Architecture</a:t>
          </a:r>
        </a:p>
      </dgm:t>
    </dgm:pt>
    <dgm:pt modelId="{F81C9A72-88D8-4F4E-B123-4064BDD5CE2A}" type="parTrans" cxnId="{B3A93F11-BF8A-EA48-A9DF-EC978313F6FC}">
      <dgm:prSet/>
      <dgm:spPr/>
      <dgm:t>
        <a:bodyPr/>
        <a:lstStyle/>
        <a:p>
          <a:endParaRPr lang="it-IT"/>
        </a:p>
      </dgm:t>
    </dgm:pt>
    <dgm:pt modelId="{3F80F0E1-A106-5440-995E-DE0317911EAF}" type="sibTrans" cxnId="{B3A93F11-BF8A-EA48-A9DF-EC978313F6FC}">
      <dgm:prSet/>
      <dgm:spPr/>
      <dgm:t>
        <a:bodyPr/>
        <a:lstStyle/>
        <a:p>
          <a:endParaRPr lang="it-IT"/>
        </a:p>
      </dgm:t>
    </dgm:pt>
    <dgm:pt modelId="{8F3C8950-15F2-3A45-9D34-14A2B8009A08}">
      <dgm:prSet phldrT="[Testo]" custT="1"/>
      <dgm:spPr/>
      <dgm:t>
        <a:bodyPr anchor="b" anchorCtr="0"/>
        <a:lstStyle/>
        <a:p>
          <a:r>
            <a:rPr lang="en-GB" sz="1100" noProof="0"/>
            <a:t> H3DE-Net is a hybrid architecture combining:</a:t>
          </a:r>
        </a:p>
      </dgm:t>
    </dgm:pt>
    <dgm:pt modelId="{AAD6F751-8740-D845-B179-23E9EE2A8058}" type="parTrans" cxnId="{F7D3B7C4-7B5B-4E44-911E-5B189E26F01D}">
      <dgm:prSet/>
      <dgm:spPr/>
      <dgm:t>
        <a:bodyPr/>
        <a:lstStyle/>
        <a:p>
          <a:endParaRPr lang="it-IT"/>
        </a:p>
      </dgm:t>
    </dgm:pt>
    <dgm:pt modelId="{C0F0EB19-5CE4-D343-AD12-9D8440530DCA}" type="sibTrans" cxnId="{F7D3B7C4-7B5B-4E44-911E-5B189E26F01D}">
      <dgm:prSet/>
      <dgm:spPr/>
      <dgm:t>
        <a:bodyPr/>
        <a:lstStyle/>
        <a:p>
          <a:endParaRPr lang="it-IT"/>
        </a:p>
      </dgm:t>
    </dgm:pt>
    <dgm:pt modelId="{6F9CE46F-3EF5-6C4C-8C84-030149D4F935}">
      <dgm:prSet phldrT="[Testo]"/>
      <dgm:spPr/>
      <dgm:t>
        <a:bodyPr/>
        <a:lstStyle/>
        <a:p>
          <a:r>
            <a:rPr lang="en-GB" noProof="0"/>
            <a:t>Pre-processing Applied</a:t>
          </a:r>
        </a:p>
      </dgm:t>
    </dgm:pt>
    <dgm:pt modelId="{B6161AD3-2103-6B4A-A47F-555B2FDA166F}" type="parTrans" cxnId="{D995D633-805D-0048-B9E2-511297C508D8}">
      <dgm:prSet/>
      <dgm:spPr/>
      <dgm:t>
        <a:bodyPr/>
        <a:lstStyle/>
        <a:p>
          <a:endParaRPr lang="it-IT"/>
        </a:p>
      </dgm:t>
    </dgm:pt>
    <dgm:pt modelId="{28D556CA-824D-3745-A679-3EAAE29116C1}" type="sibTrans" cxnId="{D995D633-805D-0048-B9E2-511297C508D8}">
      <dgm:prSet/>
      <dgm:spPr/>
      <dgm:t>
        <a:bodyPr/>
        <a:lstStyle/>
        <a:p>
          <a:endParaRPr lang="it-IT"/>
        </a:p>
      </dgm:t>
    </dgm:pt>
    <dgm:pt modelId="{EC27034D-DBE0-AA4A-93F2-DEF9DB0C4C63}">
      <dgm:prSet phldrT="[Testo]" custT="1"/>
      <dgm:spPr/>
      <dgm:t>
        <a:bodyPr anchor="b" anchorCtr="1"/>
        <a:lstStyle/>
        <a:p>
          <a:pPr algn="l">
            <a:spcAft>
              <a:spcPts val="0"/>
            </a:spcAft>
          </a:pPr>
          <a:r>
            <a:rPr lang="en-GB" sz="1100" b="0" i="0" u="none" noProof="0"/>
            <a:t>Voxel intensities in all CT scans are normalized to the range [0, 255], allowing the model to be less affected by imaging artifacts or variations in intensity scaling</a:t>
          </a:r>
          <a:r>
            <a:rPr lang="it-IT" sz="1100" b="0" i="0" u="none"/>
            <a:t>.</a:t>
          </a:r>
          <a:endParaRPr lang="en-GB" sz="1100" noProof="0"/>
        </a:p>
      </dgm:t>
    </dgm:pt>
    <dgm:pt modelId="{BCE06CB0-760D-7B4A-A27C-80C5ED4A4E5E}" type="parTrans" cxnId="{211A0C03-83E8-AE43-9493-3DA3E9C653FC}">
      <dgm:prSet/>
      <dgm:spPr/>
      <dgm:t>
        <a:bodyPr/>
        <a:lstStyle/>
        <a:p>
          <a:endParaRPr lang="it-IT"/>
        </a:p>
      </dgm:t>
    </dgm:pt>
    <dgm:pt modelId="{DD1FB806-D2CA-294D-934A-A6AD0160C8A3}" type="sibTrans" cxnId="{211A0C03-83E8-AE43-9493-3DA3E9C653FC}">
      <dgm:prSet/>
      <dgm:spPr/>
      <dgm:t>
        <a:bodyPr/>
        <a:lstStyle/>
        <a:p>
          <a:endParaRPr lang="it-IT"/>
        </a:p>
      </dgm:t>
    </dgm:pt>
    <dgm:pt modelId="{F2D3EEDD-9982-BD4A-BCF9-FF20F1E519F3}">
      <dgm:prSet phldrT="[Testo]" custT="1"/>
      <dgm:spPr/>
      <dgm:t>
        <a:bodyPr anchor="b" anchorCtr="0"/>
        <a:lstStyle/>
        <a:p>
          <a:pPr>
            <a:buFont typeface="Wingdings" pitchFamily="2" charset="2"/>
            <a:buNone/>
          </a:pPr>
          <a:r>
            <a:rPr lang="en-GB" sz="1100" noProof="0"/>
            <a:t>- CNN layers for efficient extraction of local features</a:t>
          </a:r>
        </a:p>
      </dgm:t>
    </dgm:pt>
    <dgm:pt modelId="{2359EA3B-EF15-A74A-8211-1EBEAAE49F41}" type="parTrans" cxnId="{5E2E6F73-DB9C-D541-B741-26A597FDA763}">
      <dgm:prSet/>
      <dgm:spPr/>
      <dgm:t>
        <a:bodyPr/>
        <a:lstStyle/>
        <a:p>
          <a:endParaRPr lang="it-IT"/>
        </a:p>
      </dgm:t>
    </dgm:pt>
    <dgm:pt modelId="{438A7408-4FFE-C641-90FC-023C8E9E82BE}" type="sibTrans" cxnId="{5E2E6F73-DB9C-D541-B741-26A597FDA763}">
      <dgm:prSet/>
      <dgm:spPr/>
      <dgm:t>
        <a:bodyPr/>
        <a:lstStyle/>
        <a:p>
          <a:endParaRPr lang="it-IT"/>
        </a:p>
      </dgm:t>
    </dgm:pt>
    <dgm:pt modelId="{CF060C95-145C-4B44-98B5-61C286590ACB}">
      <dgm:prSet phldrT="[Testo]" custT="1"/>
      <dgm:spPr/>
      <dgm:t>
        <a:bodyPr anchor="b" anchorCtr="0"/>
        <a:lstStyle/>
        <a:p>
          <a:pPr>
            <a:buFont typeface="Wingdings" pitchFamily="2" charset="2"/>
            <a:buNone/>
          </a:pPr>
          <a:r>
            <a:rPr lang="en-GB" sz="1100" noProof="0"/>
            <a:t>- 3D BiFormer module that captures global context with low computational cost.</a:t>
          </a:r>
        </a:p>
      </dgm:t>
    </dgm:pt>
    <dgm:pt modelId="{D6A6BBDF-61C3-D24E-B315-4B50E4C68A98}" type="parTrans" cxnId="{D99D6EF6-0958-B248-934B-A745C71E6D87}">
      <dgm:prSet/>
      <dgm:spPr/>
      <dgm:t>
        <a:bodyPr/>
        <a:lstStyle/>
        <a:p>
          <a:endParaRPr lang="it-IT"/>
        </a:p>
      </dgm:t>
    </dgm:pt>
    <dgm:pt modelId="{4C226041-8D3B-5244-9009-C22DC520A2D8}" type="sibTrans" cxnId="{D99D6EF6-0958-B248-934B-A745C71E6D87}">
      <dgm:prSet/>
      <dgm:spPr/>
      <dgm:t>
        <a:bodyPr/>
        <a:lstStyle/>
        <a:p>
          <a:endParaRPr lang="it-IT"/>
        </a:p>
      </dgm:t>
    </dgm:pt>
    <dgm:pt modelId="{13320195-4490-754A-9D9F-4519D2BD4833}">
      <dgm:prSet phldrT="[Testo]" custT="1"/>
      <dgm:spPr/>
      <dgm:t>
        <a:bodyPr anchor="b" anchorCtr="0"/>
        <a:lstStyle/>
        <a:p>
          <a:pPr>
            <a:buFont typeface="Wingdings" pitchFamily="2" charset="2"/>
            <a:buNone/>
          </a:pPr>
          <a:r>
            <a:rPr lang="en-GB" sz="1100" noProof="0"/>
            <a:t>- Feature fusion model that enhances the model’s robustness and precision. </a:t>
          </a:r>
        </a:p>
      </dgm:t>
    </dgm:pt>
    <dgm:pt modelId="{5997757A-291F-A549-937E-4EA2BAC41458}" type="parTrans" cxnId="{983602F5-10CA-D247-B821-2A30FEBFD3BD}">
      <dgm:prSet/>
      <dgm:spPr/>
      <dgm:t>
        <a:bodyPr/>
        <a:lstStyle/>
        <a:p>
          <a:endParaRPr lang="it-IT"/>
        </a:p>
      </dgm:t>
    </dgm:pt>
    <dgm:pt modelId="{F11B6F55-EECC-2141-9764-3C9E1CE4D26A}" type="sibTrans" cxnId="{983602F5-10CA-D247-B821-2A30FEBFD3BD}">
      <dgm:prSet/>
      <dgm:spPr/>
      <dgm:t>
        <a:bodyPr/>
        <a:lstStyle/>
        <a:p>
          <a:endParaRPr lang="it-IT"/>
        </a:p>
      </dgm:t>
    </dgm:pt>
    <mc:AlternateContent xmlns:mc="http://schemas.openxmlformats.org/markup-compatibility/2006" xmlns:a14="http://schemas.microsoft.com/office/drawing/2010/main">
      <mc:Choice Requires="a14">
        <dgm:pt modelId="{6E4CB41E-7557-2A4A-A0D6-1E26704D6D85}">
          <dgm:prSet custT="1"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GB" sz="1100" noProof="0"/>
                <a:t>MRE</a:t>
              </a:r>
              <a14:m>
                <m:oMath xmlns:m="http://schemas.openxmlformats.org/officeDocument/2006/math">
                  <m:r>
                    <a:rPr lang="en-GB" sz="1100" i="1" noProof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±</m:t>
                  </m:r>
                </m:oMath>
              </a14:m>
              <a:r>
                <a:rPr lang="en-GB" sz="1100" noProof="0"/>
                <a:t>SD (mm): the mean radial error represents the average Euclidean distance between the predicted and true values.</a:t>
              </a:r>
            </a:p>
          </dgm:t>
        </dgm:pt>
      </mc:Choice>
      <mc:Fallback xmlns="">
        <dgm:pt modelId="{6E4CB41E-7557-2A4A-A0D6-1E26704D6D85}">
          <dgm:prSet custT="1"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GB" sz="1100" noProof="0"/>
                <a:t>MRE</a:t>
              </a:r>
              <a:r>
                <a:rPr lang="en-GB" sz="1100" i="0" noProof="0">
                  <a:latin typeface="Cambria Math" panose="02040503050406030204" pitchFamily="18" charset="0"/>
                  <a:ea typeface="Cambria Math" panose="02040503050406030204" pitchFamily="18" charset="0"/>
                </a:rPr>
                <a:t>±</a:t>
              </a:r>
              <a:r>
                <a:rPr lang="en-GB" sz="1100" noProof="0"/>
                <a:t>SD (mm): the mean radial error represents the average Euclidean distance between the predicted and true values.</a:t>
              </a:r>
            </a:p>
          </dgm:t>
        </dgm:pt>
      </mc:Fallback>
    </mc:AlternateContent>
    <dgm:pt modelId="{E40DCEA4-4BA5-CF4D-98A6-6BC9CD319008}" type="parTrans" cxnId="{FF86089E-DEAB-7640-B515-9FC8EAB8E200}">
      <dgm:prSet/>
      <dgm:spPr/>
      <dgm:t>
        <a:bodyPr/>
        <a:lstStyle/>
        <a:p>
          <a:endParaRPr lang="it-IT"/>
        </a:p>
      </dgm:t>
    </dgm:pt>
    <dgm:pt modelId="{90515930-2F07-7946-A1A4-5200487AF7CB}" type="sibTrans" cxnId="{FF86089E-DEAB-7640-B515-9FC8EAB8E200}">
      <dgm:prSet/>
      <dgm:spPr/>
      <dgm:t>
        <a:bodyPr/>
        <a:lstStyle/>
        <a:p>
          <a:endParaRPr lang="it-IT"/>
        </a:p>
      </dgm:t>
    </dgm:pt>
    <dgm:pt modelId="{BF4F4DDB-3DF4-7C48-A4F3-35E331DACC9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noProof="0"/>
            <a:t>SDR: successful detection rate measures the accuracy of the detected landmarks at difference distances (2mm, 2.5mm, 3mm, 4mm).</a:t>
          </a:r>
        </a:p>
      </dgm:t>
    </dgm:pt>
    <dgm:pt modelId="{D6F1BD79-5084-E642-B9AC-AD0D750A12A1}" type="parTrans" cxnId="{CA49B42F-70E3-3949-810A-969892E6AA71}">
      <dgm:prSet/>
      <dgm:spPr/>
      <dgm:t>
        <a:bodyPr/>
        <a:lstStyle/>
        <a:p>
          <a:endParaRPr lang="it-IT"/>
        </a:p>
      </dgm:t>
    </dgm:pt>
    <dgm:pt modelId="{78598BD6-1EE5-5A46-A50C-A660F585CDC3}" type="sibTrans" cxnId="{CA49B42F-70E3-3949-810A-969892E6AA71}">
      <dgm:prSet/>
      <dgm:spPr/>
      <dgm:t>
        <a:bodyPr/>
        <a:lstStyle/>
        <a:p>
          <a:endParaRPr lang="it-IT"/>
        </a:p>
      </dgm:t>
    </dgm:pt>
    <dgm:pt modelId="{B6B06112-3A0B-4946-B136-D630DDE1BA7F}">
      <dgm:prSet custT="1"/>
      <dgm:spPr/>
      <dgm:t>
        <a:bodyPr anchor="b" anchorCtr="1"/>
        <a:lstStyle/>
        <a:p>
          <a:pPr algn="l">
            <a:spcAft>
              <a:spcPts val="0"/>
            </a:spcAft>
          </a:pPr>
          <a:r>
            <a:rPr lang="en-GB" sz="1100"/>
            <a:t>Since 3D CT images are very large, the authors divided the volume into smaller 3D patches by extracting a geometrically centred crop from the middle of the volume, where the mandible, mandibular landmarks, and the centre of the skull are typically located.</a:t>
          </a:r>
          <a:br>
            <a:rPr lang="en-GB" sz="1100"/>
          </a:br>
          <a:r>
            <a:rPr lang="en-GB" sz="1100"/>
            <a:t>Training is performed on these subregions  instead of the entire scan.</a:t>
          </a:r>
        </a:p>
      </dgm:t>
    </dgm:pt>
    <dgm:pt modelId="{4D204099-CE18-8047-9EC9-BE4BAAC0E85D}" type="parTrans" cxnId="{0C670D70-0535-9F40-83B9-E4B2CF37C58E}">
      <dgm:prSet/>
      <dgm:spPr/>
      <dgm:t>
        <a:bodyPr/>
        <a:lstStyle/>
        <a:p>
          <a:endParaRPr lang="it-IT"/>
        </a:p>
      </dgm:t>
    </dgm:pt>
    <dgm:pt modelId="{60618F3A-0012-8049-910B-59D46ED0F6F6}" type="sibTrans" cxnId="{0C670D70-0535-9F40-83B9-E4B2CF37C58E}">
      <dgm:prSet/>
      <dgm:spPr/>
      <dgm:t>
        <a:bodyPr/>
        <a:lstStyle/>
        <a:p>
          <a:endParaRPr lang="it-IT"/>
        </a:p>
      </dgm:t>
    </dgm:pt>
    <dgm:pt modelId="{381EB79E-DFDF-F646-A520-DC904E17FB7D}">
      <dgm:prSet phldrT="[Testo]" custT="1"/>
      <dgm:spPr/>
      <dgm:t>
        <a:bodyPr anchor="b" anchorCtr="0"/>
        <a:lstStyle/>
        <a:p>
          <a:pPr>
            <a:buFont typeface="Wingdings" pitchFamily="2" charset="2"/>
            <a:buNone/>
          </a:pPr>
          <a:r>
            <a:rPr lang="en-GB" sz="1100" noProof="0"/>
            <a:t>Extensive experiments on a public dataset demonstrate that H3DE-Net significantly outperforms existing methods, as accuracy and robustness. The proposed model excels in challenging scenarios, such as missing landmarks or complex anatomical variations, making it a promising approach for real world clinical applications.</a:t>
          </a:r>
        </a:p>
      </dgm:t>
    </dgm:pt>
    <dgm:pt modelId="{F3CDDB22-F16B-C044-AEF4-1910597354BF}" type="parTrans" cxnId="{F3470D68-CAED-CE4A-B05D-FA3B67C85A3B}">
      <dgm:prSet/>
      <dgm:spPr/>
      <dgm:t>
        <a:bodyPr/>
        <a:lstStyle/>
        <a:p>
          <a:endParaRPr lang="it-IT"/>
        </a:p>
      </dgm:t>
    </dgm:pt>
    <dgm:pt modelId="{CDCAF2E3-527B-3B4B-AEC1-7D89DCDE8399}" type="sibTrans" cxnId="{F3470D68-CAED-CE4A-B05D-FA3B67C85A3B}">
      <dgm:prSet/>
      <dgm:spPr/>
      <dgm:t>
        <a:bodyPr/>
        <a:lstStyle/>
        <a:p>
          <a:endParaRPr lang="it-IT"/>
        </a:p>
      </dgm:t>
    </dgm:pt>
    <dgm:pt modelId="{BFE3AB94-DC06-044E-A5D6-2217B140D4AE}" type="pres">
      <dgm:prSet presAssocID="{65A3BF84-62BD-8B4D-9115-D5C002538D9C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DC6F375-248F-2F49-B9DD-020816FE945C}" type="pres">
      <dgm:prSet presAssocID="{65A3BF84-62BD-8B4D-9115-D5C002538D9C}" presName="children" presStyleCnt="0"/>
      <dgm:spPr/>
    </dgm:pt>
    <dgm:pt modelId="{354F1FE1-6703-D14C-972E-6ECA308E6649}" type="pres">
      <dgm:prSet presAssocID="{65A3BF84-62BD-8B4D-9115-D5C002538D9C}" presName="child1group" presStyleCnt="0"/>
      <dgm:spPr/>
    </dgm:pt>
    <dgm:pt modelId="{7BCE7B46-24CB-A349-8C82-3A1168484AF7}" type="pres">
      <dgm:prSet presAssocID="{65A3BF84-62BD-8B4D-9115-D5C002538D9C}" presName="child1" presStyleLbl="bgAcc1" presStyleIdx="0" presStyleCnt="4" custScaleX="109833" custScaleY="99620" custLinFactNeighborX="-9283" custLinFactNeighborY="35833"/>
      <dgm:spPr/>
    </dgm:pt>
    <dgm:pt modelId="{67BAF327-C412-284C-AF66-A6DB30D35B97}" type="pres">
      <dgm:prSet presAssocID="{65A3BF84-62BD-8B4D-9115-D5C002538D9C}" presName="child1Text" presStyleLbl="bgAcc1" presStyleIdx="0" presStyleCnt="4">
        <dgm:presLayoutVars>
          <dgm:bulletEnabled val="1"/>
        </dgm:presLayoutVars>
      </dgm:prSet>
      <dgm:spPr/>
    </dgm:pt>
    <dgm:pt modelId="{4435128C-2493-9C44-9046-A75119411C10}" type="pres">
      <dgm:prSet presAssocID="{65A3BF84-62BD-8B4D-9115-D5C002538D9C}" presName="child2group" presStyleCnt="0"/>
      <dgm:spPr/>
    </dgm:pt>
    <dgm:pt modelId="{63AAE070-D071-3D46-9F2F-96884FADCFC5}" type="pres">
      <dgm:prSet presAssocID="{65A3BF84-62BD-8B4D-9115-D5C002538D9C}" presName="child2" presStyleLbl="bgAcc1" presStyleIdx="1" presStyleCnt="4" custScaleX="122532" custLinFactNeighborX="9141" custLinFactNeighborY="31676"/>
      <dgm:spPr/>
    </dgm:pt>
    <dgm:pt modelId="{59DC3AD3-D0A5-364A-8D09-7063699C5A3A}" type="pres">
      <dgm:prSet presAssocID="{65A3BF84-62BD-8B4D-9115-D5C002538D9C}" presName="child2Text" presStyleLbl="bgAcc1" presStyleIdx="1" presStyleCnt="4">
        <dgm:presLayoutVars>
          <dgm:bulletEnabled val="1"/>
        </dgm:presLayoutVars>
      </dgm:prSet>
      <dgm:spPr/>
    </dgm:pt>
    <dgm:pt modelId="{274825E2-9FBB-B947-9C58-E5F001726954}" type="pres">
      <dgm:prSet presAssocID="{65A3BF84-62BD-8B4D-9115-D5C002538D9C}" presName="child3group" presStyleCnt="0"/>
      <dgm:spPr/>
    </dgm:pt>
    <dgm:pt modelId="{5F5C7BA5-70E6-934C-8D35-550307642F61}" type="pres">
      <dgm:prSet presAssocID="{65A3BF84-62BD-8B4D-9115-D5C002538D9C}" presName="child3" presStyleLbl="bgAcc1" presStyleIdx="2" presStyleCnt="4" custScaleX="159243" custScaleY="162927" custLinFactNeighborX="37161" custLinFactNeighborY="-7908"/>
      <dgm:spPr/>
    </dgm:pt>
    <dgm:pt modelId="{F24D3814-395B-EB4F-9B6A-9664D5A3F8D2}" type="pres">
      <dgm:prSet presAssocID="{65A3BF84-62BD-8B4D-9115-D5C002538D9C}" presName="child3Text" presStyleLbl="bgAcc1" presStyleIdx="2" presStyleCnt="4">
        <dgm:presLayoutVars>
          <dgm:bulletEnabled val="1"/>
        </dgm:presLayoutVars>
      </dgm:prSet>
      <dgm:spPr/>
    </dgm:pt>
    <dgm:pt modelId="{858DB4D7-58DD-9249-87E9-DCB5EADC521F}" type="pres">
      <dgm:prSet presAssocID="{65A3BF84-62BD-8B4D-9115-D5C002538D9C}" presName="child4group" presStyleCnt="0"/>
      <dgm:spPr/>
    </dgm:pt>
    <dgm:pt modelId="{6E45D095-A0D8-D049-AA6B-C69F08E42A93}" type="pres">
      <dgm:prSet presAssocID="{65A3BF84-62BD-8B4D-9115-D5C002538D9C}" presName="child4" presStyleLbl="bgAcc1" presStyleIdx="3" presStyleCnt="4" custScaleX="153749" custScaleY="141622" custLinFactNeighborX="-20866" custLinFactNeighborY="-7973"/>
      <dgm:spPr/>
    </dgm:pt>
    <dgm:pt modelId="{B8671910-4797-A740-AE9A-D532BD4804C8}" type="pres">
      <dgm:prSet presAssocID="{65A3BF84-62BD-8B4D-9115-D5C002538D9C}" presName="child4Text" presStyleLbl="bgAcc1" presStyleIdx="3" presStyleCnt="4">
        <dgm:presLayoutVars>
          <dgm:bulletEnabled val="1"/>
        </dgm:presLayoutVars>
      </dgm:prSet>
      <dgm:spPr/>
    </dgm:pt>
    <dgm:pt modelId="{810265D4-C7A7-E547-8DF9-D90B49E8DC0A}" type="pres">
      <dgm:prSet presAssocID="{65A3BF84-62BD-8B4D-9115-D5C002538D9C}" presName="childPlaceholder" presStyleCnt="0"/>
      <dgm:spPr/>
    </dgm:pt>
    <dgm:pt modelId="{0E55F5B5-E45A-5540-BF5E-8A451641DB35}" type="pres">
      <dgm:prSet presAssocID="{65A3BF84-62BD-8B4D-9115-D5C002538D9C}" presName="circle" presStyleCnt="0"/>
      <dgm:spPr/>
    </dgm:pt>
    <dgm:pt modelId="{D84E920D-B120-8648-B772-1FB1EC611788}" type="pres">
      <dgm:prSet presAssocID="{65A3BF84-62BD-8B4D-9115-D5C002538D9C}" presName="quadrant1" presStyleLbl="node1" presStyleIdx="0" presStyleCnt="4" custScaleX="82645" custScaleY="82645" custLinFactNeighborX="6456" custLinFactNeighborY="4785">
        <dgm:presLayoutVars>
          <dgm:chMax val="1"/>
          <dgm:bulletEnabled val="1"/>
        </dgm:presLayoutVars>
      </dgm:prSet>
      <dgm:spPr/>
    </dgm:pt>
    <dgm:pt modelId="{C24FDE23-AE62-F347-99FD-C2C486F5A49D}" type="pres">
      <dgm:prSet presAssocID="{65A3BF84-62BD-8B4D-9115-D5C002538D9C}" presName="quadrant2" presStyleLbl="node1" presStyleIdx="1" presStyleCnt="4" custScaleX="82645" custScaleY="82645" custLinFactNeighborX="-9966" custLinFactNeighborY="4785">
        <dgm:presLayoutVars>
          <dgm:chMax val="1"/>
          <dgm:bulletEnabled val="1"/>
        </dgm:presLayoutVars>
      </dgm:prSet>
      <dgm:spPr/>
    </dgm:pt>
    <dgm:pt modelId="{EDD24897-3753-EF46-8095-EDE3AFFB1EC1}" type="pres">
      <dgm:prSet presAssocID="{65A3BF84-62BD-8B4D-9115-D5C002538D9C}" presName="quadrant3" presStyleLbl="node1" presStyleIdx="2" presStyleCnt="4" custScaleX="82591" custScaleY="82591" custLinFactNeighborX="-9984" custLinFactNeighborY="-13620">
        <dgm:presLayoutVars>
          <dgm:chMax val="1"/>
          <dgm:bulletEnabled val="1"/>
        </dgm:presLayoutVars>
      </dgm:prSet>
      <dgm:spPr/>
    </dgm:pt>
    <dgm:pt modelId="{C27040B9-1B89-FA40-A609-16AE0BCB1527}" type="pres">
      <dgm:prSet presAssocID="{65A3BF84-62BD-8B4D-9115-D5C002538D9C}" presName="quadrant4" presStyleLbl="node1" presStyleIdx="3" presStyleCnt="4" custScaleX="82645" custScaleY="82645" custLinFactNeighborX="6417" custLinFactNeighborY="-12866">
        <dgm:presLayoutVars>
          <dgm:chMax val="1"/>
          <dgm:bulletEnabled val="1"/>
        </dgm:presLayoutVars>
      </dgm:prSet>
      <dgm:spPr/>
    </dgm:pt>
    <dgm:pt modelId="{B867B0F8-9AAB-9740-AEE5-5409AA441D72}" type="pres">
      <dgm:prSet presAssocID="{65A3BF84-62BD-8B4D-9115-D5C002538D9C}" presName="quadrantPlaceholder" presStyleCnt="0"/>
      <dgm:spPr/>
    </dgm:pt>
    <dgm:pt modelId="{26A59C4E-5CF8-C243-85F0-DEA42F494E7F}" type="pres">
      <dgm:prSet presAssocID="{65A3BF84-62BD-8B4D-9115-D5C002538D9C}" presName="center1" presStyleLbl="fgShp" presStyleIdx="0" presStyleCnt="2" custScaleY="95808"/>
      <dgm:spPr>
        <a:noFill/>
        <a:ln>
          <a:noFill/>
        </a:ln>
      </dgm:spPr>
    </dgm:pt>
    <dgm:pt modelId="{FA89F2B5-639C-2640-B179-84F8224DCDCA}" type="pres">
      <dgm:prSet presAssocID="{65A3BF84-62BD-8B4D-9115-D5C002538D9C}" presName="center2" presStyleLbl="fgShp" presStyleIdx="1" presStyleCnt="2"/>
      <dgm:spPr>
        <a:noFill/>
        <a:ln>
          <a:noFill/>
        </a:ln>
      </dgm:spPr>
    </dgm:pt>
  </dgm:ptLst>
  <dgm:cxnLst>
    <dgm:cxn modelId="{211A0C03-83E8-AE43-9493-3DA3E9C653FC}" srcId="{6F9CE46F-3EF5-6C4C-8C84-030149D4F935}" destId="{EC27034D-DBE0-AA4A-93F2-DEF9DB0C4C63}" srcOrd="0" destOrd="0" parTransId="{BCE06CB0-760D-7B4A-A27C-80C5ED4A4E5E}" sibTransId="{DD1FB806-D2CA-294D-934A-A6AD0160C8A3}"/>
    <dgm:cxn modelId="{C73C6F07-BF48-3242-94F3-381B4F7E9923}" type="presOf" srcId="{BF4F4DDB-3DF4-7C48-A4F3-35E331DACC90}" destId="{63AAE070-D071-3D46-9F2F-96884FADCFC5}" srcOrd="0" destOrd="1" presId="urn:microsoft.com/office/officeart/2005/8/layout/cycle4"/>
    <dgm:cxn modelId="{B3A93F11-BF8A-EA48-A9DF-EC978313F6FC}" srcId="{65A3BF84-62BD-8B4D-9115-D5C002538D9C}" destId="{DB73EBB8-7D0C-0C44-9BC3-0AFB389C17A3}" srcOrd="2" destOrd="0" parTransId="{F81C9A72-88D8-4F4E-B123-4064BDD5CE2A}" sibTransId="{3F80F0E1-A106-5440-995E-DE0317911EAF}"/>
    <dgm:cxn modelId="{9806AE1D-407F-2D49-B0E8-1D8C3D8A20C6}" type="presOf" srcId="{BF4F4DDB-3DF4-7C48-A4F3-35E331DACC90}" destId="{59DC3AD3-D0A5-364A-8D09-7063699C5A3A}" srcOrd="1" destOrd="1" presId="urn:microsoft.com/office/officeart/2005/8/layout/cycle4"/>
    <dgm:cxn modelId="{A1D2AE1F-D431-FC41-B1ED-7D4F9990EC0F}" srcId="{65A3BF84-62BD-8B4D-9115-D5C002538D9C}" destId="{4E51985B-0E6A-2C45-B77E-23C6337B9797}" srcOrd="0" destOrd="0" parTransId="{42FC593B-4596-AD44-8C4D-BBBA463726AF}" sibTransId="{22BE3CCA-01B6-1F43-9466-511FDC8CEC1D}"/>
    <dgm:cxn modelId="{800D3121-E2BE-1B46-A59E-116E0AD8E8EA}" type="presOf" srcId="{B6B06112-3A0B-4946-B136-D630DDE1BA7F}" destId="{B8671910-4797-A740-AE9A-D532BD4804C8}" srcOrd="1" destOrd="1" presId="urn:microsoft.com/office/officeart/2005/8/layout/cycle4"/>
    <dgm:cxn modelId="{B8FAF024-6F47-D645-91D8-808D9C1B7010}" type="presOf" srcId="{CF060C95-145C-4B44-98B5-61C286590ACB}" destId="{5F5C7BA5-70E6-934C-8D35-550307642F61}" srcOrd="0" destOrd="2" presId="urn:microsoft.com/office/officeart/2005/8/layout/cycle4"/>
    <dgm:cxn modelId="{5801B327-4504-E44C-87A4-B16055A18C42}" type="presOf" srcId="{13320195-4490-754A-9D9F-4519D2BD4833}" destId="{5F5C7BA5-70E6-934C-8D35-550307642F61}" srcOrd="0" destOrd="3" presId="urn:microsoft.com/office/officeart/2005/8/layout/cycle4"/>
    <dgm:cxn modelId="{D24EBE2D-074D-4447-8A6A-8C005B3AC417}" type="presOf" srcId="{6F9CE46F-3EF5-6C4C-8C84-030149D4F935}" destId="{C27040B9-1B89-FA40-A609-16AE0BCB1527}" srcOrd="0" destOrd="0" presId="urn:microsoft.com/office/officeart/2005/8/layout/cycle4"/>
    <dgm:cxn modelId="{CA49B42F-70E3-3949-810A-969892E6AA71}" srcId="{D822CA6F-EF73-2140-9F29-BAEEC9FB4D15}" destId="{BF4F4DDB-3DF4-7C48-A4F3-35E331DACC90}" srcOrd="1" destOrd="0" parTransId="{D6F1BD79-5084-E642-B9AC-AD0D750A12A1}" sibTransId="{78598BD6-1EE5-5A46-A50C-A660F585CDC3}"/>
    <dgm:cxn modelId="{2255F62F-3F8E-4B40-AE83-6F4E72B3E264}" type="presOf" srcId="{D822CA6F-EF73-2140-9F29-BAEEC9FB4D15}" destId="{C24FDE23-AE62-F347-99FD-C2C486F5A49D}" srcOrd="0" destOrd="0" presId="urn:microsoft.com/office/officeart/2005/8/layout/cycle4"/>
    <dgm:cxn modelId="{D995D633-805D-0048-B9E2-511297C508D8}" srcId="{65A3BF84-62BD-8B4D-9115-D5C002538D9C}" destId="{6F9CE46F-3EF5-6C4C-8C84-030149D4F935}" srcOrd="3" destOrd="0" parTransId="{B6161AD3-2103-6B4A-A47F-555B2FDA166F}" sibTransId="{28D556CA-824D-3745-A679-3EAAE29116C1}"/>
    <dgm:cxn modelId="{556CD540-41C2-FD4A-888A-24A43460F717}" type="presOf" srcId="{65A3BF84-62BD-8B4D-9115-D5C002538D9C}" destId="{BFE3AB94-DC06-044E-A5D6-2217B140D4AE}" srcOrd="0" destOrd="0" presId="urn:microsoft.com/office/officeart/2005/8/layout/cycle4"/>
    <dgm:cxn modelId="{F0B5E94A-45FF-7947-AED4-E144B049CE9F}" srcId="{65A3BF84-62BD-8B4D-9115-D5C002538D9C}" destId="{D822CA6F-EF73-2140-9F29-BAEEC9FB4D15}" srcOrd="1" destOrd="0" parTransId="{925A8BE6-3097-A54E-A9BF-F5A7D650AE35}" sibTransId="{83CF7DA4-4175-B04A-B093-9A1AC99F75B8}"/>
    <dgm:cxn modelId="{F3470D68-CAED-CE4A-B05D-FA3B67C85A3B}" srcId="{DB73EBB8-7D0C-0C44-9BC3-0AFB389C17A3}" destId="{381EB79E-DFDF-F646-A520-DC904E17FB7D}" srcOrd="1" destOrd="0" parTransId="{F3CDDB22-F16B-C044-AEF4-1910597354BF}" sibTransId="{CDCAF2E3-527B-3B4B-AEC1-7D89DCDE8399}"/>
    <dgm:cxn modelId="{B06D046B-0C6C-D846-8344-756F552ABC75}" type="presOf" srcId="{13320195-4490-754A-9D9F-4519D2BD4833}" destId="{F24D3814-395B-EB4F-9B6A-9664D5A3F8D2}" srcOrd="1" destOrd="3" presId="urn:microsoft.com/office/officeart/2005/8/layout/cycle4"/>
    <dgm:cxn modelId="{0C670D70-0535-9F40-83B9-E4B2CF37C58E}" srcId="{6F9CE46F-3EF5-6C4C-8C84-030149D4F935}" destId="{B6B06112-3A0B-4946-B136-D630DDE1BA7F}" srcOrd="1" destOrd="0" parTransId="{4D204099-CE18-8047-9EC9-BE4BAAC0E85D}" sibTransId="{60618F3A-0012-8049-910B-59D46ED0F6F6}"/>
    <dgm:cxn modelId="{5E2E6F73-DB9C-D541-B741-26A597FDA763}" srcId="{8F3C8950-15F2-3A45-9D34-14A2B8009A08}" destId="{F2D3EEDD-9982-BD4A-BCF9-FF20F1E519F3}" srcOrd="0" destOrd="0" parTransId="{2359EA3B-EF15-A74A-8211-1EBEAAE49F41}" sibTransId="{438A7408-4FFE-C641-90FC-023C8E9E82BE}"/>
    <dgm:cxn modelId="{C318CE7F-99D7-9A41-B602-68A09B97E626}" type="presOf" srcId="{EC27034D-DBE0-AA4A-93F2-DEF9DB0C4C63}" destId="{B8671910-4797-A740-AE9A-D532BD4804C8}" srcOrd="1" destOrd="0" presId="urn:microsoft.com/office/officeart/2005/8/layout/cycle4"/>
    <dgm:cxn modelId="{3724DB8F-CA2F-A14B-91ED-544C7627956E}" type="presOf" srcId="{381EB79E-DFDF-F646-A520-DC904E17FB7D}" destId="{5F5C7BA5-70E6-934C-8D35-550307642F61}" srcOrd="0" destOrd="4" presId="urn:microsoft.com/office/officeart/2005/8/layout/cycle4"/>
    <dgm:cxn modelId="{BD4CE99B-632F-E14B-9E85-BD3FE446706A}" type="presOf" srcId="{F2D3EEDD-9982-BD4A-BCF9-FF20F1E519F3}" destId="{5F5C7BA5-70E6-934C-8D35-550307642F61}" srcOrd="0" destOrd="1" presId="urn:microsoft.com/office/officeart/2005/8/layout/cycle4"/>
    <dgm:cxn modelId="{FF86089E-DEAB-7640-B515-9FC8EAB8E200}" srcId="{D822CA6F-EF73-2140-9F29-BAEEC9FB4D15}" destId="{6E4CB41E-7557-2A4A-A0D6-1E26704D6D85}" srcOrd="0" destOrd="0" parTransId="{E40DCEA4-4BA5-CF4D-98A6-6BC9CD319008}" sibTransId="{90515930-2F07-7946-A1A4-5200487AF7CB}"/>
    <dgm:cxn modelId="{36A159A2-5500-7A47-B55F-1F94DB82E4DA}" srcId="{4E51985B-0E6A-2C45-B77E-23C6337B9797}" destId="{1F0CBCFF-1B29-1847-A878-4C9C3D07CB4B}" srcOrd="0" destOrd="0" parTransId="{92051893-3B2D-3546-B7DA-58BB6E382737}" sibTransId="{28F218FB-F7EF-BD4C-8FA5-5AE2E55D233F}"/>
    <dgm:cxn modelId="{555998C0-7433-5E45-9963-7BD42892D3B1}" type="presOf" srcId="{F2D3EEDD-9982-BD4A-BCF9-FF20F1E519F3}" destId="{F24D3814-395B-EB4F-9B6A-9664D5A3F8D2}" srcOrd="1" destOrd="1" presId="urn:microsoft.com/office/officeart/2005/8/layout/cycle4"/>
    <dgm:cxn modelId="{0A03D3C0-95AF-BE47-BFEE-93596816B85D}" type="presOf" srcId="{1F0CBCFF-1B29-1847-A878-4C9C3D07CB4B}" destId="{67BAF327-C412-284C-AF66-A6DB30D35B97}" srcOrd="1" destOrd="0" presId="urn:microsoft.com/office/officeart/2005/8/layout/cycle4"/>
    <dgm:cxn modelId="{F7D3B7C4-7B5B-4E44-911E-5B189E26F01D}" srcId="{DB73EBB8-7D0C-0C44-9BC3-0AFB389C17A3}" destId="{8F3C8950-15F2-3A45-9D34-14A2B8009A08}" srcOrd="0" destOrd="0" parTransId="{AAD6F751-8740-D845-B179-23E9EE2A8058}" sibTransId="{C0F0EB19-5CE4-D343-AD12-9D8440530DCA}"/>
    <dgm:cxn modelId="{FF7CBDCE-CEEC-A041-9F4B-2C3AE233D45A}" type="presOf" srcId="{8F3C8950-15F2-3A45-9D34-14A2B8009A08}" destId="{F24D3814-395B-EB4F-9B6A-9664D5A3F8D2}" srcOrd="1" destOrd="0" presId="urn:microsoft.com/office/officeart/2005/8/layout/cycle4"/>
    <dgm:cxn modelId="{2A2198D1-65AD-E34F-BD4D-2C538774B816}" type="presOf" srcId="{DB73EBB8-7D0C-0C44-9BC3-0AFB389C17A3}" destId="{EDD24897-3753-EF46-8095-EDE3AFFB1EC1}" srcOrd="0" destOrd="0" presId="urn:microsoft.com/office/officeart/2005/8/layout/cycle4"/>
    <dgm:cxn modelId="{CDB3E7DE-4376-F547-96E1-FF027A009C16}" type="presOf" srcId="{4E51985B-0E6A-2C45-B77E-23C6337B9797}" destId="{D84E920D-B120-8648-B772-1FB1EC611788}" srcOrd="0" destOrd="0" presId="urn:microsoft.com/office/officeart/2005/8/layout/cycle4"/>
    <dgm:cxn modelId="{3B148AE2-C339-484A-BB0C-3A5B6B4DE32A}" type="presOf" srcId="{6E4CB41E-7557-2A4A-A0D6-1E26704D6D85}" destId="{59DC3AD3-D0A5-364A-8D09-7063699C5A3A}" srcOrd="1" destOrd="0" presId="urn:microsoft.com/office/officeart/2005/8/layout/cycle4"/>
    <dgm:cxn modelId="{20A50EF0-885E-7544-8192-45EDC40F4AAA}" type="presOf" srcId="{EC27034D-DBE0-AA4A-93F2-DEF9DB0C4C63}" destId="{6E45D095-A0D8-D049-AA6B-C69F08E42A93}" srcOrd="0" destOrd="0" presId="urn:microsoft.com/office/officeart/2005/8/layout/cycle4"/>
    <dgm:cxn modelId="{BE84CCF1-56AC-2641-A662-8B2D6482EB5F}" type="presOf" srcId="{8F3C8950-15F2-3A45-9D34-14A2B8009A08}" destId="{5F5C7BA5-70E6-934C-8D35-550307642F61}" srcOrd="0" destOrd="0" presId="urn:microsoft.com/office/officeart/2005/8/layout/cycle4"/>
    <dgm:cxn modelId="{D57846F2-A989-7A40-B8E8-77FB486AB492}" type="presOf" srcId="{CF060C95-145C-4B44-98B5-61C286590ACB}" destId="{F24D3814-395B-EB4F-9B6A-9664D5A3F8D2}" srcOrd="1" destOrd="2" presId="urn:microsoft.com/office/officeart/2005/8/layout/cycle4"/>
    <dgm:cxn modelId="{983602F5-10CA-D247-B821-2A30FEBFD3BD}" srcId="{8F3C8950-15F2-3A45-9D34-14A2B8009A08}" destId="{13320195-4490-754A-9D9F-4519D2BD4833}" srcOrd="2" destOrd="0" parTransId="{5997757A-291F-A549-937E-4EA2BAC41458}" sibTransId="{F11B6F55-EECC-2141-9764-3C9E1CE4D26A}"/>
    <dgm:cxn modelId="{80270BF6-67D7-3C4F-AC87-4585FDB93946}" type="presOf" srcId="{1F0CBCFF-1B29-1847-A878-4C9C3D07CB4B}" destId="{7BCE7B46-24CB-A349-8C82-3A1168484AF7}" srcOrd="0" destOrd="0" presId="urn:microsoft.com/office/officeart/2005/8/layout/cycle4"/>
    <dgm:cxn modelId="{D99D6EF6-0958-B248-934B-A745C71E6D87}" srcId="{8F3C8950-15F2-3A45-9D34-14A2B8009A08}" destId="{CF060C95-145C-4B44-98B5-61C286590ACB}" srcOrd="1" destOrd="0" parTransId="{D6A6BBDF-61C3-D24E-B315-4B50E4C68A98}" sibTransId="{4C226041-8D3B-5244-9009-C22DC520A2D8}"/>
    <dgm:cxn modelId="{B9C4BCF9-723E-B340-9075-3779BE4FFE7C}" type="presOf" srcId="{6E4CB41E-7557-2A4A-A0D6-1E26704D6D85}" destId="{63AAE070-D071-3D46-9F2F-96884FADCFC5}" srcOrd="0" destOrd="0" presId="urn:microsoft.com/office/officeart/2005/8/layout/cycle4"/>
    <dgm:cxn modelId="{35732EFE-B475-394A-894D-61746BA4C6A6}" type="presOf" srcId="{381EB79E-DFDF-F646-A520-DC904E17FB7D}" destId="{F24D3814-395B-EB4F-9B6A-9664D5A3F8D2}" srcOrd="1" destOrd="4" presId="urn:microsoft.com/office/officeart/2005/8/layout/cycle4"/>
    <dgm:cxn modelId="{30CB91FE-2EF7-F349-8E27-52597551FB0B}" type="presOf" srcId="{B6B06112-3A0B-4946-B136-D630DDE1BA7F}" destId="{6E45D095-A0D8-D049-AA6B-C69F08E42A93}" srcOrd="0" destOrd="1" presId="urn:microsoft.com/office/officeart/2005/8/layout/cycle4"/>
    <dgm:cxn modelId="{CEE38A00-F7DB-3D40-8BD2-260DB96094FC}" type="presParOf" srcId="{BFE3AB94-DC06-044E-A5D6-2217B140D4AE}" destId="{ADC6F375-248F-2F49-B9DD-020816FE945C}" srcOrd="0" destOrd="0" presId="urn:microsoft.com/office/officeart/2005/8/layout/cycle4"/>
    <dgm:cxn modelId="{0D8E4C50-C0A5-564B-9C53-834D7BBEBE8F}" type="presParOf" srcId="{ADC6F375-248F-2F49-B9DD-020816FE945C}" destId="{354F1FE1-6703-D14C-972E-6ECA308E6649}" srcOrd="0" destOrd="0" presId="urn:microsoft.com/office/officeart/2005/8/layout/cycle4"/>
    <dgm:cxn modelId="{2BDDE7EC-E4BA-174F-80D8-9BBA8FF009EF}" type="presParOf" srcId="{354F1FE1-6703-D14C-972E-6ECA308E6649}" destId="{7BCE7B46-24CB-A349-8C82-3A1168484AF7}" srcOrd="0" destOrd="0" presId="urn:microsoft.com/office/officeart/2005/8/layout/cycle4"/>
    <dgm:cxn modelId="{50D49D78-95CF-0449-8972-551F3C86BE36}" type="presParOf" srcId="{354F1FE1-6703-D14C-972E-6ECA308E6649}" destId="{67BAF327-C412-284C-AF66-A6DB30D35B97}" srcOrd="1" destOrd="0" presId="urn:microsoft.com/office/officeart/2005/8/layout/cycle4"/>
    <dgm:cxn modelId="{C6B57E08-8172-F34D-9635-9C638FFC88A5}" type="presParOf" srcId="{ADC6F375-248F-2F49-B9DD-020816FE945C}" destId="{4435128C-2493-9C44-9046-A75119411C10}" srcOrd="1" destOrd="0" presId="urn:microsoft.com/office/officeart/2005/8/layout/cycle4"/>
    <dgm:cxn modelId="{EDCF80A5-8322-0D42-8212-09EE2EB56C07}" type="presParOf" srcId="{4435128C-2493-9C44-9046-A75119411C10}" destId="{63AAE070-D071-3D46-9F2F-96884FADCFC5}" srcOrd="0" destOrd="0" presId="urn:microsoft.com/office/officeart/2005/8/layout/cycle4"/>
    <dgm:cxn modelId="{0D4A1C2D-27D8-C94F-89D3-120C00B2EDC1}" type="presParOf" srcId="{4435128C-2493-9C44-9046-A75119411C10}" destId="{59DC3AD3-D0A5-364A-8D09-7063699C5A3A}" srcOrd="1" destOrd="0" presId="urn:microsoft.com/office/officeart/2005/8/layout/cycle4"/>
    <dgm:cxn modelId="{F58E5560-7D29-7747-9EE7-50DDD15065E8}" type="presParOf" srcId="{ADC6F375-248F-2F49-B9DD-020816FE945C}" destId="{274825E2-9FBB-B947-9C58-E5F001726954}" srcOrd="2" destOrd="0" presId="urn:microsoft.com/office/officeart/2005/8/layout/cycle4"/>
    <dgm:cxn modelId="{72E70E44-4BDD-5041-87DA-32A9BE1BDF6F}" type="presParOf" srcId="{274825E2-9FBB-B947-9C58-E5F001726954}" destId="{5F5C7BA5-70E6-934C-8D35-550307642F61}" srcOrd="0" destOrd="0" presId="urn:microsoft.com/office/officeart/2005/8/layout/cycle4"/>
    <dgm:cxn modelId="{D309AB0B-EED4-6244-B84A-7435B542D17D}" type="presParOf" srcId="{274825E2-9FBB-B947-9C58-E5F001726954}" destId="{F24D3814-395B-EB4F-9B6A-9664D5A3F8D2}" srcOrd="1" destOrd="0" presId="urn:microsoft.com/office/officeart/2005/8/layout/cycle4"/>
    <dgm:cxn modelId="{C4109EA5-33F1-EA4F-A897-35A1FE59EB08}" type="presParOf" srcId="{ADC6F375-248F-2F49-B9DD-020816FE945C}" destId="{858DB4D7-58DD-9249-87E9-DCB5EADC521F}" srcOrd="3" destOrd="0" presId="urn:microsoft.com/office/officeart/2005/8/layout/cycle4"/>
    <dgm:cxn modelId="{3DB80B7A-D027-A745-AA3B-3740236D088C}" type="presParOf" srcId="{858DB4D7-58DD-9249-87E9-DCB5EADC521F}" destId="{6E45D095-A0D8-D049-AA6B-C69F08E42A93}" srcOrd="0" destOrd="0" presId="urn:microsoft.com/office/officeart/2005/8/layout/cycle4"/>
    <dgm:cxn modelId="{54A1E837-1C9D-0549-8054-80EC9BA89D25}" type="presParOf" srcId="{858DB4D7-58DD-9249-87E9-DCB5EADC521F}" destId="{B8671910-4797-A740-AE9A-D532BD4804C8}" srcOrd="1" destOrd="0" presId="urn:microsoft.com/office/officeart/2005/8/layout/cycle4"/>
    <dgm:cxn modelId="{38E41C10-E7B2-5042-B21E-58460325B8DA}" type="presParOf" srcId="{ADC6F375-248F-2F49-B9DD-020816FE945C}" destId="{810265D4-C7A7-E547-8DF9-D90B49E8DC0A}" srcOrd="4" destOrd="0" presId="urn:microsoft.com/office/officeart/2005/8/layout/cycle4"/>
    <dgm:cxn modelId="{2BDE768E-EF6E-8D4F-BFCF-39FF2C768C93}" type="presParOf" srcId="{BFE3AB94-DC06-044E-A5D6-2217B140D4AE}" destId="{0E55F5B5-E45A-5540-BF5E-8A451641DB35}" srcOrd="1" destOrd="0" presId="urn:microsoft.com/office/officeart/2005/8/layout/cycle4"/>
    <dgm:cxn modelId="{9AEB4DAB-BFCD-8F4C-AA68-6A1DAAB179E9}" type="presParOf" srcId="{0E55F5B5-E45A-5540-BF5E-8A451641DB35}" destId="{D84E920D-B120-8648-B772-1FB1EC611788}" srcOrd="0" destOrd="0" presId="urn:microsoft.com/office/officeart/2005/8/layout/cycle4"/>
    <dgm:cxn modelId="{53E071C5-4397-FF45-A6CE-6767CE582B37}" type="presParOf" srcId="{0E55F5B5-E45A-5540-BF5E-8A451641DB35}" destId="{C24FDE23-AE62-F347-99FD-C2C486F5A49D}" srcOrd="1" destOrd="0" presId="urn:microsoft.com/office/officeart/2005/8/layout/cycle4"/>
    <dgm:cxn modelId="{376A8BDA-AABD-CB48-A778-DE1CE3F0CEB8}" type="presParOf" srcId="{0E55F5B5-E45A-5540-BF5E-8A451641DB35}" destId="{EDD24897-3753-EF46-8095-EDE3AFFB1EC1}" srcOrd="2" destOrd="0" presId="urn:microsoft.com/office/officeart/2005/8/layout/cycle4"/>
    <dgm:cxn modelId="{99F8D877-383D-FC4D-9EE6-CADD505C1F1A}" type="presParOf" srcId="{0E55F5B5-E45A-5540-BF5E-8A451641DB35}" destId="{C27040B9-1B89-FA40-A609-16AE0BCB1527}" srcOrd="3" destOrd="0" presId="urn:microsoft.com/office/officeart/2005/8/layout/cycle4"/>
    <dgm:cxn modelId="{834CA25A-94BC-1D4F-BF43-183F43DF8B05}" type="presParOf" srcId="{0E55F5B5-E45A-5540-BF5E-8A451641DB35}" destId="{B867B0F8-9AAB-9740-AEE5-5409AA441D72}" srcOrd="4" destOrd="0" presId="urn:microsoft.com/office/officeart/2005/8/layout/cycle4"/>
    <dgm:cxn modelId="{1EFFBD71-4A15-554F-9166-0BE5617F9783}" type="presParOf" srcId="{BFE3AB94-DC06-044E-A5D6-2217B140D4AE}" destId="{26A59C4E-5CF8-C243-85F0-DEA42F494E7F}" srcOrd="2" destOrd="0" presId="urn:microsoft.com/office/officeart/2005/8/layout/cycle4"/>
    <dgm:cxn modelId="{C5E53414-AFEC-B947-A170-F5529D3154BF}" type="presParOf" srcId="{BFE3AB94-DC06-044E-A5D6-2217B140D4AE}" destId="{FA89F2B5-639C-2640-B179-84F8224DCDCA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A3BF84-62BD-8B4D-9115-D5C002538D9C}" type="doc">
      <dgm:prSet loTypeId="urn:microsoft.com/office/officeart/2005/8/layout/cycle4" loCatId="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it-IT"/>
        </a:p>
      </dgm:t>
    </dgm:pt>
    <dgm:pt modelId="{4E51985B-0E6A-2C45-B77E-23C6337B9797}">
      <dgm:prSet phldrT="[Testo]"/>
      <dgm:spPr/>
      <dgm:t>
        <a:bodyPr/>
        <a:lstStyle/>
        <a:p>
          <a:r>
            <a:rPr lang="en-GB" noProof="0"/>
            <a:t>Data Used</a:t>
          </a:r>
        </a:p>
      </dgm:t>
    </dgm:pt>
    <dgm:pt modelId="{42FC593B-4596-AD44-8C4D-BBBA463726AF}" type="parTrans" cxnId="{A1D2AE1F-D431-FC41-B1ED-7D4F9990EC0F}">
      <dgm:prSet/>
      <dgm:spPr/>
      <dgm:t>
        <a:bodyPr/>
        <a:lstStyle/>
        <a:p>
          <a:endParaRPr lang="it-IT"/>
        </a:p>
      </dgm:t>
    </dgm:pt>
    <dgm:pt modelId="{22BE3CCA-01B6-1F43-9466-511FDC8CEC1D}" type="sibTrans" cxnId="{A1D2AE1F-D431-FC41-B1ED-7D4F9990EC0F}">
      <dgm:prSet/>
      <dgm:spPr/>
      <dgm:t>
        <a:bodyPr/>
        <a:lstStyle/>
        <a:p>
          <a:endParaRPr lang="it-IT"/>
        </a:p>
      </dgm:t>
    </dgm:pt>
    <dgm:pt modelId="{1F0CBCFF-1B29-1847-A878-4C9C3D07CB4B}">
      <dgm:prSet phldrT="[Testo]" custT="1"/>
      <dgm:spPr/>
      <dgm:t>
        <a:bodyPr anchor="ctr" anchorCtr="1"/>
        <a:lstStyle/>
        <a:p>
          <a:r>
            <a:rPr lang="en-GB" sz="1100" noProof="0"/>
            <a:t>The model is trained and evaluated on a public cranial CT scans, each annotated with 14 mandibular anatomical landmarks.</a:t>
          </a:r>
        </a:p>
      </dgm:t>
    </dgm:pt>
    <dgm:pt modelId="{92051893-3B2D-3546-B7DA-58BB6E382737}" type="parTrans" cxnId="{36A159A2-5500-7A47-B55F-1F94DB82E4DA}">
      <dgm:prSet/>
      <dgm:spPr/>
      <dgm:t>
        <a:bodyPr/>
        <a:lstStyle/>
        <a:p>
          <a:endParaRPr lang="it-IT"/>
        </a:p>
      </dgm:t>
    </dgm:pt>
    <dgm:pt modelId="{28F218FB-F7EF-BD4C-8FA5-5AE2E55D233F}" type="sibTrans" cxnId="{36A159A2-5500-7A47-B55F-1F94DB82E4DA}">
      <dgm:prSet/>
      <dgm:spPr/>
      <dgm:t>
        <a:bodyPr/>
        <a:lstStyle/>
        <a:p>
          <a:endParaRPr lang="it-IT"/>
        </a:p>
      </dgm:t>
    </dgm:pt>
    <dgm:pt modelId="{D822CA6F-EF73-2140-9F29-BAEEC9FB4D15}">
      <dgm:prSet phldrT="[Testo]"/>
      <dgm:spPr/>
      <dgm:t>
        <a:bodyPr/>
        <a:lstStyle/>
        <a:p>
          <a:r>
            <a:rPr lang="en-GB" noProof="0"/>
            <a:t>Performance Evaluation Metrics</a:t>
          </a:r>
        </a:p>
      </dgm:t>
    </dgm:pt>
    <dgm:pt modelId="{925A8BE6-3097-A54E-A9BF-F5A7D650AE35}" type="parTrans" cxnId="{F0B5E94A-45FF-7947-AED4-E144B049CE9F}">
      <dgm:prSet/>
      <dgm:spPr/>
      <dgm:t>
        <a:bodyPr/>
        <a:lstStyle/>
        <a:p>
          <a:endParaRPr lang="it-IT"/>
        </a:p>
      </dgm:t>
    </dgm:pt>
    <dgm:pt modelId="{83CF7DA4-4175-B04A-B093-9A1AC99F75B8}" type="sibTrans" cxnId="{F0B5E94A-45FF-7947-AED4-E144B049CE9F}">
      <dgm:prSet/>
      <dgm:spPr/>
      <dgm:t>
        <a:bodyPr/>
        <a:lstStyle/>
        <a:p>
          <a:endParaRPr lang="it-IT"/>
        </a:p>
      </dgm:t>
    </dgm:pt>
    <dgm:pt modelId="{DB73EBB8-7D0C-0C44-9BC3-0AFB389C17A3}">
      <dgm:prSet phldrT="[Testo]"/>
      <dgm:spPr/>
      <dgm:t>
        <a:bodyPr/>
        <a:lstStyle/>
        <a:p>
          <a:r>
            <a:rPr lang="en-GB" noProof="0"/>
            <a:t>Deep Learning Architecture</a:t>
          </a:r>
        </a:p>
      </dgm:t>
    </dgm:pt>
    <dgm:pt modelId="{F81C9A72-88D8-4F4E-B123-4064BDD5CE2A}" type="parTrans" cxnId="{B3A93F11-BF8A-EA48-A9DF-EC978313F6FC}">
      <dgm:prSet/>
      <dgm:spPr/>
      <dgm:t>
        <a:bodyPr/>
        <a:lstStyle/>
        <a:p>
          <a:endParaRPr lang="it-IT"/>
        </a:p>
      </dgm:t>
    </dgm:pt>
    <dgm:pt modelId="{3F80F0E1-A106-5440-995E-DE0317911EAF}" type="sibTrans" cxnId="{B3A93F11-BF8A-EA48-A9DF-EC978313F6FC}">
      <dgm:prSet/>
      <dgm:spPr/>
      <dgm:t>
        <a:bodyPr/>
        <a:lstStyle/>
        <a:p>
          <a:endParaRPr lang="it-IT"/>
        </a:p>
      </dgm:t>
    </dgm:pt>
    <dgm:pt modelId="{8F3C8950-15F2-3A45-9D34-14A2B8009A08}">
      <dgm:prSet phldrT="[Testo]" custT="1"/>
      <dgm:spPr/>
      <dgm:t>
        <a:bodyPr anchor="b" anchorCtr="0"/>
        <a:lstStyle/>
        <a:p>
          <a:r>
            <a:rPr lang="en-GB" sz="1100" noProof="0"/>
            <a:t> H3DE-Net is a hybrid architecture combining:</a:t>
          </a:r>
        </a:p>
      </dgm:t>
    </dgm:pt>
    <dgm:pt modelId="{AAD6F751-8740-D845-B179-23E9EE2A8058}" type="parTrans" cxnId="{F7D3B7C4-7B5B-4E44-911E-5B189E26F01D}">
      <dgm:prSet/>
      <dgm:spPr/>
      <dgm:t>
        <a:bodyPr/>
        <a:lstStyle/>
        <a:p>
          <a:endParaRPr lang="it-IT"/>
        </a:p>
      </dgm:t>
    </dgm:pt>
    <dgm:pt modelId="{C0F0EB19-5CE4-D343-AD12-9D8440530DCA}" type="sibTrans" cxnId="{F7D3B7C4-7B5B-4E44-911E-5B189E26F01D}">
      <dgm:prSet/>
      <dgm:spPr/>
      <dgm:t>
        <a:bodyPr/>
        <a:lstStyle/>
        <a:p>
          <a:endParaRPr lang="it-IT"/>
        </a:p>
      </dgm:t>
    </dgm:pt>
    <dgm:pt modelId="{6F9CE46F-3EF5-6C4C-8C84-030149D4F935}">
      <dgm:prSet phldrT="[Testo]"/>
      <dgm:spPr/>
      <dgm:t>
        <a:bodyPr/>
        <a:lstStyle/>
        <a:p>
          <a:r>
            <a:rPr lang="en-GB" noProof="0"/>
            <a:t>Pre-processing Applied</a:t>
          </a:r>
        </a:p>
      </dgm:t>
    </dgm:pt>
    <dgm:pt modelId="{B6161AD3-2103-6B4A-A47F-555B2FDA166F}" type="parTrans" cxnId="{D995D633-805D-0048-B9E2-511297C508D8}">
      <dgm:prSet/>
      <dgm:spPr/>
      <dgm:t>
        <a:bodyPr/>
        <a:lstStyle/>
        <a:p>
          <a:endParaRPr lang="it-IT"/>
        </a:p>
      </dgm:t>
    </dgm:pt>
    <dgm:pt modelId="{28D556CA-824D-3745-A679-3EAAE29116C1}" type="sibTrans" cxnId="{D995D633-805D-0048-B9E2-511297C508D8}">
      <dgm:prSet/>
      <dgm:spPr/>
      <dgm:t>
        <a:bodyPr/>
        <a:lstStyle/>
        <a:p>
          <a:endParaRPr lang="it-IT"/>
        </a:p>
      </dgm:t>
    </dgm:pt>
    <dgm:pt modelId="{EC27034D-DBE0-AA4A-93F2-DEF9DB0C4C63}">
      <dgm:prSet phldrT="[Testo]" custT="1"/>
      <dgm:spPr/>
      <dgm:t>
        <a:bodyPr anchor="b" anchorCtr="1"/>
        <a:lstStyle/>
        <a:p>
          <a:pPr algn="l">
            <a:spcAft>
              <a:spcPts val="0"/>
            </a:spcAft>
          </a:pPr>
          <a:r>
            <a:rPr lang="en-GB" sz="1100" b="0" i="0" u="none" noProof="0"/>
            <a:t>Voxel intensities in all CT scans are normalized to the range [0, 255], allowing the model to be less affected by imaging artifacts or variations in intensity scaling</a:t>
          </a:r>
          <a:r>
            <a:rPr lang="it-IT" sz="1100" b="0" i="0" u="none"/>
            <a:t>.</a:t>
          </a:r>
          <a:endParaRPr lang="en-GB" sz="1100" noProof="0"/>
        </a:p>
      </dgm:t>
    </dgm:pt>
    <dgm:pt modelId="{BCE06CB0-760D-7B4A-A27C-80C5ED4A4E5E}" type="parTrans" cxnId="{211A0C03-83E8-AE43-9493-3DA3E9C653FC}">
      <dgm:prSet/>
      <dgm:spPr/>
      <dgm:t>
        <a:bodyPr/>
        <a:lstStyle/>
        <a:p>
          <a:endParaRPr lang="it-IT"/>
        </a:p>
      </dgm:t>
    </dgm:pt>
    <dgm:pt modelId="{DD1FB806-D2CA-294D-934A-A6AD0160C8A3}" type="sibTrans" cxnId="{211A0C03-83E8-AE43-9493-3DA3E9C653FC}">
      <dgm:prSet/>
      <dgm:spPr/>
      <dgm:t>
        <a:bodyPr/>
        <a:lstStyle/>
        <a:p>
          <a:endParaRPr lang="it-IT"/>
        </a:p>
      </dgm:t>
    </dgm:pt>
    <dgm:pt modelId="{F2D3EEDD-9982-BD4A-BCF9-FF20F1E519F3}">
      <dgm:prSet phldrT="[Testo]" custT="1"/>
      <dgm:spPr/>
      <dgm:t>
        <a:bodyPr anchor="b" anchorCtr="0"/>
        <a:lstStyle/>
        <a:p>
          <a:pPr>
            <a:buFont typeface="Wingdings" pitchFamily="2" charset="2"/>
            <a:buNone/>
          </a:pPr>
          <a:r>
            <a:rPr lang="en-GB" sz="1100" noProof="0"/>
            <a:t>- CNN layers for efficient extraction of local features</a:t>
          </a:r>
        </a:p>
      </dgm:t>
    </dgm:pt>
    <dgm:pt modelId="{2359EA3B-EF15-A74A-8211-1EBEAAE49F41}" type="parTrans" cxnId="{5E2E6F73-DB9C-D541-B741-26A597FDA763}">
      <dgm:prSet/>
      <dgm:spPr/>
      <dgm:t>
        <a:bodyPr/>
        <a:lstStyle/>
        <a:p>
          <a:endParaRPr lang="it-IT"/>
        </a:p>
      </dgm:t>
    </dgm:pt>
    <dgm:pt modelId="{438A7408-4FFE-C641-90FC-023C8E9E82BE}" type="sibTrans" cxnId="{5E2E6F73-DB9C-D541-B741-26A597FDA763}">
      <dgm:prSet/>
      <dgm:spPr/>
      <dgm:t>
        <a:bodyPr/>
        <a:lstStyle/>
        <a:p>
          <a:endParaRPr lang="it-IT"/>
        </a:p>
      </dgm:t>
    </dgm:pt>
    <dgm:pt modelId="{CF060C95-145C-4B44-98B5-61C286590ACB}">
      <dgm:prSet phldrT="[Testo]" custT="1"/>
      <dgm:spPr/>
      <dgm:t>
        <a:bodyPr anchor="b" anchorCtr="0"/>
        <a:lstStyle/>
        <a:p>
          <a:pPr>
            <a:buFont typeface="Wingdings" pitchFamily="2" charset="2"/>
            <a:buNone/>
          </a:pPr>
          <a:r>
            <a:rPr lang="en-GB" sz="1100" noProof="0"/>
            <a:t>- 3D BiFormer module that captures global context with low computational cost.</a:t>
          </a:r>
        </a:p>
      </dgm:t>
    </dgm:pt>
    <dgm:pt modelId="{D6A6BBDF-61C3-D24E-B315-4B50E4C68A98}" type="parTrans" cxnId="{D99D6EF6-0958-B248-934B-A745C71E6D87}">
      <dgm:prSet/>
      <dgm:spPr/>
      <dgm:t>
        <a:bodyPr/>
        <a:lstStyle/>
        <a:p>
          <a:endParaRPr lang="it-IT"/>
        </a:p>
      </dgm:t>
    </dgm:pt>
    <dgm:pt modelId="{4C226041-8D3B-5244-9009-C22DC520A2D8}" type="sibTrans" cxnId="{D99D6EF6-0958-B248-934B-A745C71E6D87}">
      <dgm:prSet/>
      <dgm:spPr/>
      <dgm:t>
        <a:bodyPr/>
        <a:lstStyle/>
        <a:p>
          <a:endParaRPr lang="it-IT"/>
        </a:p>
      </dgm:t>
    </dgm:pt>
    <dgm:pt modelId="{13320195-4490-754A-9D9F-4519D2BD4833}">
      <dgm:prSet phldrT="[Testo]" custT="1"/>
      <dgm:spPr/>
      <dgm:t>
        <a:bodyPr anchor="b" anchorCtr="0"/>
        <a:lstStyle/>
        <a:p>
          <a:pPr>
            <a:buFont typeface="Wingdings" pitchFamily="2" charset="2"/>
            <a:buNone/>
          </a:pPr>
          <a:r>
            <a:rPr lang="en-GB" sz="1100" noProof="0"/>
            <a:t>- Feature fusion model that enhances the model’s robustness and precision. </a:t>
          </a:r>
        </a:p>
      </dgm:t>
    </dgm:pt>
    <dgm:pt modelId="{5997757A-291F-A549-937E-4EA2BAC41458}" type="parTrans" cxnId="{983602F5-10CA-D247-B821-2A30FEBFD3BD}">
      <dgm:prSet/>
      <dgm:spPr/>
      <dgm:t>
        <a:bodyPr/>
        <a:lstStyle/>
        <a:p>
          <a:endParaRPr lang="it-IT"/>
        </a:p>
      </dgm:t>
    </dgm:pt>
    <dgm:pt modelId="{F11B6F55-EECC-2141-9764-3C9E1CE4D26A}" type="sibTrans" cxnId="{983602F5-10CA-D247-B821-2A30FEBFD3BD}">
      <dgm:prSet/>
      <dgm:spPr/>
      <dgm:t>
        <a:bodyPr/>
        <a:lstStyle/>
        <a:p>
          <a:endParaRPr lang="it-IT"/>
        </a:p>
      </dgm:t>
    </dgm:pt>
    <dgm:pt modelId="{6E4CB41E-7557-2A4A-A0D6-1E26704D6D85}">
      <dgm:prSet custT="1"/>
      <dgm:spPr>
        <a:blipFill>
          <a:blip xmlns:r="http://schemas.openxmlformats.org/officeDocument/2006/relationships" r:embed="rId1"/>
          <a:stretch>
            <a:fillRect r="-646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E40DCEA4-4BA5-CF4D-98A6-6BC9CD319008}" type="parTrans" cxnId="{FF86089E-DEAB-7640-B515-9FC8EAB8E200}">
      <dgm:prSet/>
      <dgm:spPr/>
      <dgm:t>
        <a:bodyPr/>
        <a:lstStyle/>
        <a:p>
          <a:endParaRPr lang="it-IT"/>
        </a:p>
      </dgm:t>
    </dgm:pt>
    <dgm:pt modelId="{90515930-2F07-7946-A1A4-5200487AF7CB}" type="sibTrans" cxnId="{FF86089E-DEAB-7640-B515-9FC8EAB8E200}">
      <dgm:prSet/>
      <dgm:spPr/>
      <dgm:t>
        <a:bodyPr/>
        <a:lstStyle/>
        <a:p>
          <a:endParaRPr lang="it-IT"/>
        </a:p>
      </dgm:t>
    </dgm:pt>
    <dgm:pt modelId="{BF4F4DDB-3DF4-7C48-A4F3-35E331DACC90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D6F1BD79-5084-E642-B9AC-AD0D750A12A1}" type="parTrans" cxnId="{CA49B42F-70E3-3949-810A-969892E6AA71}">
      <dgm:prSet/>
      <dgm:spPr/>
      <dgm:t>
        <a:bodyPr/>
        <a:lstStyle/>
        <a:p>
          <a:endParaRPr lang="it-IT"/>
        </a:p>
      </dgm:t>
    </dgm:pt>
    <dgm:pt modelId="{78598BD6-1EE5-5A46-A50C-A660F585CDC3}" type="sibTrans" cxnId="{CA49B42F-70E3-3949-810A-969892E6AA71}">
      <dgm:prSet/>
      <dgm:spPr/>
      <dgm:t>
        <a:bodyPr/>
        <a:lstStyle/>
        <a:p>
          <a:endParaRPr lang="it-IT"/>
        </a:p>
      </dgm:t>
    </dgm:pt>
    <dgm:pt modelId="{B6B06112-3A0B-4946-B136-D630DDE1BA7F}">
      <dgm:prSet custT="1"/>
      <dgm:spPr/>
      <dgm:t>
        <a:bodyPr anchor="b" anchorCtr="1"/>
        <a:lstStyle/>
        <a:p>
          <a:pPr algn="l">
            <a:spcAft>
              <a:spcPts val="0"/>
            </a:spcAft>
          </a:pPr>
          <a:r>
            <a:rPr lang="en-GB" sz="1100"/>
            <a:t>Since 3D CT images are very large, the authors divided the volume into smaller 3D patches by extracting a geometrically centred crop from the middle of the volume, where the mandible, mandibular landmarks, and the centre of the skull are typically located.</a:t>
          </a:r>
          <a:br>
            <a:rPr lang="en-GB" sz="1100"/>
          </a:br>
          <a:r>
            <a:rPr lang="en-GB" sz="1100"/>
            <a:t>Training is performed on these subregions  instead of the entire scan.</a:t>
          </a:r>
        </a:p>
      </dgm:t>
    </dgm:pt>
    <dgm:pt modelId="{4D204099-CE18-8047-9EC9-BE4BAAC0E85D}" type="parTrans" cxnId="{0C670D70-0535-9F40-83B9-E4B2CF37C58E}">
      <dgm:prSet/>
      <dgm:spPr/>
      <dgm:t>
        <a:bodyPr/>
        <a:lstStyle/>
        <a:p>
          <a:endParaRPr lang="it-IT"/>
        </a:p>
      </dgm:t>
    </dgm:pt>
    <dgm:pt modelId="{60618F3A-0012-8049-910B-59D46ED0F6F6}" type="sibTrans" cxnId="{0C670D70-0535-9F40-83B9-E4B2CF37C58E}">
      <dgm:prSet/>
      <dgm:spPr/>
      <dgm:t>
        <a:bodyPr/>
        <a:lstStyle/>
        <a:p>
          <a:endParaRPr lang="it-IT"/>
        </a:p>
      </dgm:t>
    </dgm:pt>
    <dgm:pt modelId="{381EB79E-DFDF-F646-A520-DC904E17FB7D}">
      <dgm:prSet phldrT="[Testo]" custT="1"/>
      <dgm:spPr/>
      <dgm:t>
        <a:bodyPr anchor="b" anchorCtr="0"/>
        <a:lstStyle/>
        <a:p>
          <a:pPr>
            <a:buFont typeface="Wingdings" pitchFamily="2" charset="2"/>
            <a:buNone/>
          </a:pPr>
          <a:r>
            <a:rPr lang="en-GB" sz="1100" noProof="0"/>
            <a:t>Extensive experiments on a public dataset demonstrate that H3DE-Net significantly outperforms existing methods, as accuracy and robustness. The proposed model excels in challenging scenarios, such as missing landmarks or complex anatomical variations, making it a promising approach for real world clinical applications.</a:t>
          </a:r>
        </a:p>
      </dgm:t>
    </dgm:pt>
    <dgm:pt modelId="{F3CDDB22-F16B-C044-AEF4-1910597354BF}" type="parTrans" cxnId="{F3470D68-CAED-CE4A-B05D-FA3B67C85A3B}">
      <dgm:prSet/>
      <dgm:spPr/>
      <dgm:t>
        <a:bodyPr/>
        <a:lstStyle/>
        <a:p>
          <a:endParaRPr lang="it-IT"/>
        </a:p>
      </dgm:t>
    </dgm:pt>
    <dgm:pt modelId="{CDCAF2E3-527B-3B4B-AEC1-7D89DCDE8399}" type="sibTrans" cxnId="{F3470D68-CAED-CE4A-B05D-FA3B67C85A3B}">
      <dgm:prSet/>
      <dgm:spPr/>
      <dgm:t>
        <a:bodyPr/>
        <a:lstStyle/>
        <a:p>
          <a:endParaRPr lang="it-IT"/>
        </a:p>
      </dgm:t>
    </dgm:pt>
    <dgm:pt modelId="{BFE3AB94-DC06-044E-A5D6-2217B140D4AE}" type="pres">
      <dgm:prSet presAssocID="{65A3BF84-62BD-8B4D-9115-D5C002538D9C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DC6F375-248F-2F49-B9DD-020816FE945C}" type="pres">
      <dgm:prSet presAssocID="{65A3BF84-62BD-8B4D-9115-D5C002538D9C}" presName="children" presStyleCnt="0"/>
      <dgm:spPr/>
    </dgm:pt>
    <dgm:pt modelId="{354F1FE1-6703-D14C-972E-6ECA308E6649}" type="pres">
      <dgm:prSet presAssocID="{65A3BF84-62BD-8B4D-9115-D5C002538D9C}" presName="child1group" presStyleCnt="0"/>
      <dgm:spPr/>
    </dgm:pt>
    <dgm:pt modelId="{7BCE7B46-24CB-A349-8C82-3A1168484AF7}" type="pres">
      <dgm:prSet presAssocID="{65A3BF84-62BD-8B4D-9115-D5C002538D9C}" presName="child1" presStyleLbl="bgAcc1" presStyleIdx="0" presStyleCnt="4" custScaleX="109833" custScaleY="99620" custLinFactNeighborX="-9283" custLinFactNeighborY="35833"/>
      <dgm:spPr/>
    </dgm:pt>
    <dgm:pt modelId="{67BAF327-C412-284C-AF66-A6DB30D35B97}" type="pres">
      <dgm:prSet presAssocID="{65A3BF84-62BD-8B4D-9115-D5C002538D9C}" presName="child1Text" presStyleLbl="bgAcc1" presStyleIdx="0" presStyleCnt="4">
        <dgm:presLayoutVars>
          <dgm:bulletEnabled val="1"/>
        </dgm:presLayoutVars>
      </dgm:prSet>
      <dgm:spPr/>
    </dgm:pt>
    <dgm:pt modelId="{4435128C-2493-9C44-9046-A75119411C10}" type="pres">
      <dgm:prSet presAssocID="{65A3BF84-62BD-8B4D-9115-D5C002538D9C}" presName="child2group" presStyleCnt="0"/>
      <dgm:spPr/>
    </dgm:pt>
    <dgm:pt modelId="{63AAE070-D071-3D46-9F2F-96884FADCFC5}" type="pres">
      <dgm:prSet presAssocID="{65A3BF84-62BD-8B4D-9115-D5C002538D9C}" presName="child2" presStyleLbl="bgAcc1" presStyleIdx="1" presStyleCnt="4" custScaleX="122532" custLinFactNeighborX="9141" custLinFactNeighborY="31676"/>
      <dgm:spPr/>
    </dgm:pt>
    <dgm:pt modelId="{59DC3AD3-D0A5-364A-8D09-7063699C5A3A}" type="pres">
      <dgm:prSet presAssocID="{65A3BF84-62BD-8B4D-9115-D5C002538D9C}" presName="child2Text" presStyleLbl="bgAcc1" presStyleIdx="1" presStyleCnt="4">
        <dgm:presLayoutVars>
          <dgm:bulletEnabled val="1"/>
        </dgm:presLayoutVars>
      </dgm:prSet>
      <dgm:spPr/>
    </dgm:pt>
    <dgm:pt modelId="{274825E2-9FBB-B947-9C58-E5F001726954}" type="pres">
      <dgm:prSet presAssocID="{65A3BF84-62BD-8B4D-9115-D5C002538D9C}" presName="child3group" presStyleCnt="0"/>
      <dgm:spPr/>
    </dgm:pt>
    <dgm:pt modelId="{5F5C7BA5-70E6-934C-8D35-550307642F61}" type="pres">
      <dgm:prSet presAssocID="{65A3BF84-62BD-8B4D-9115-D5C002538D9C}" presName="child3" presStyleLbl="bgAcc1" presStyleIdx="2" presStyleCnt="4" custScaleX="159243" custScaleY="162927" custLinFactNeighborX="37161" custLinFactNeighborY="-7908"/>
      <dgm:spPr/>
    </dgm:pt>
    <dgm:pt modelId="{F24D3814-395B-EB4F-9B6A-9664D5A3F8D2}" type="pres">
      <dgm:prSet presAssocID="{65A3BF84-62BD-8B4D-9115-D5C002538D9C}" presName="child3Text" presStyleLbl="bgAcc1" presStyleIdx="2" presStyleCnt="4">
        <dgm:presLayoutVars>
          <dgm:bulletEnabled val="1"/>
        </dgm:presLayoutVars>
      </dgm:prSet>
      <dgm:spPr/>
    </dgm:pt>
    <dgm:pt modelId="{858DB4D7-58DD-9249-87E9-DCB5EADC521F}" type="pres">
      <dgm:prSet presAssocID="{65A3BF84-62BD-8B4D-9115-D5C002538D9C}" presName="child4group" presStyleCnt="0"/>
      <dgm:spPr/>
    </dgm:pt>
    <dgm:pt modelId="{6E45D095-A0D8-D049-AA6B-C69F08E42A93}" type="pres">
      <dgm:prSet presAssocID="{65A3BF84-62BD-8B4D-9115-D5C002538D9C}" presName="child4" presStyleLbl="bgAcc1" presStyleIdx="3" presStyleCnt="4" custScaleX="153749" custScaleY="141622" custLinFactNeighborX="-20866" custLinFactNeighborY="-7973"/>
      <dgm:spPr/>
    </dgm:pt>
    <dgm:pt modelId="{B8671910-4797-A740-AE9A-D532BD4804C8}" type="pres">
      <dgm:prSet presAssocID="{65A3BF84-62BD-8B4D-9115-D5C002538D9C}" presName="child4Text" presStyleLbl="bgAcc1" presStyleIdx="3" presStyleCnt="4">
        <dgm:presLayoutVars>
          <dgm:bulletEnabled val="1"/>
        </dgm:presLayoutVars>
      </dgm:prSet>
      <dgm:spPr/>
    </dgm:pt>
    <dgm:pt modelId="{810265D4-C7A7-E547-8DF9-D90B49E8DC0A}" type="pres">
      <dgm:prSet presAssocID="{65A3BF84-62BD-8B4D-9115-D5C002538D9C}" presName="childPlaceholder" presStyleCnt="0"/>
      <dgm:spPr/>
    </dgm:pt>
    <dgm:pt modelId="{0E55F5B5-E45A-5540-BF5E-8A451641DB35}" type="pres">
      <dgm:prSet presAssocID="{65A3BF84-62BD-8B4D-9115-D5C002538D9C}" presName="circle" presStyleCnt="0"/>
      <dgm:spPr/>
    </dgm:pt>
    <dgm:pt modelId="{D84E920D-B120-8648-B772-1FB1EC611788}" type="pres">
      <dgm:prSet presAssocID="{65A3BF84-62BD-8B4D-9115-D5C002538D9C}" presName="quadrant1" presStyleLbl="node1" presStyleIdx="0" presStyleCnt="4" custScaleX="82645" custScaleY="82645" custLinFactNeighborX="6456" custLinFactNeighborY="4785">
        <dgm:presLayoutVars>
          <dgm:chMax val="1"/>
          <dgm:bulletEnabled val="1"/>
        </dgm:presLayoutVars>
      </dgm:prSet>
      <dgm:spPr/>
    </dgm:pt>
    <dgm:pt modelId="{C24FDE23-AE62-F347-99FD-C2C486F5A49D}" type="pres">
      <dgm:prSet presAssocID="{65A3BF84-62BD-8B4D-9115-D5C002538D9C}" presName="quadrant2" presStyleLbl="node1" presStyleIdx="1" presStyleCnt="4" custScaleX="82645" custScaleY="82645" custLinFactNeighborX="-9966" custLinFactNeighborY="4785">
        <dgm:presLayoutVars>
          <dgm:chMax val="1"/>
          <dgm:bulletEnabled val="1"/>
        </dgm:presLayoutVars>
      </dgm:prSet>
      <dgm:spPr/>
    </dgm:pt>
    <dgm:pt modelId="{EDD24897-3753-EF46-8095-EDE3AFFB1EC1}" type="pres">
      <dgm:prSet presAssocID="{65A3BF84-62BD-8B4D-9115-D5C002538D9C}" presName="quadrant3" presStyleLbl="node1" presStyleIdx="2" presStyleCnt="4" custScaleX="82591" custScaleY="82591" custLinFactNeighborX="-9984" custLinFactNeighborY="-13620">
        <dgm:presLayoutVars>
          <dgm:chMax val="1"/>
          <dgm:bulletEnabled val="1"/>
        </dgm:presLayoutVars>
      </dgm:prSet>
      <dgm:spPr/>
    </dgm:pt>
    <dgm:pt modelId="{C27040B9-1B89-FA40-A609-16AE0BCB1527}" type="pres">
      <dgm:prSet presAssocID="{65A3BF84-62BD-8B4D-9115-D5C002538D9C}" presName="quadrant4" presStyleLbl="node1" presStyleIdx="3" presStyleCnt="4" custScaleX="82645" custScaleY="82645" custLinFactNeighborX="6417" custLinFactNeighborY="-12866">
        <dgm:presLayoutVars>
          <dgm:chMax val="1"/>
          <dgm:bulletEnabled val="1"/>
        </dgm:presLayoutVars>
      </dgm:prSet>
      <dgm:spPr/>
    </dgm:pt>
    <dgm:pt modelId="{B867B0F8-9AAB-9740-AEE5-5409AA441D72}" type="pres">
      <dgm:prSet presAssocID="{65A3BF84-62BD-8B4D-9115-D5C002538D9C}" presName="quadrantPlaceholder" presStyleCnt="0"/>
      <dgm:spPr/>
    </dgm:pt>
    <dgm:pt modelId="{26A59C4E-5CF8-C243-85F0-DEA42F494E7F}" type="pres">
      <dgm:prSet presAssocID="{65A3BF84-62BD-8B4D-9115-D5C002538D9C}" presName="center1" presStyleLbl="fgShp" presStyleIdx="0" presStyleCnt="2" custScaleY="95808"/>
      <dgm:spPr>
        <a:noFill/>
        <a:ln>
          <a:noFill/>
        </a:ln>
      </dgm:spPr>
    </dgm:pt>
    <dgm:pt modelId="{FA89F2B5-639C-2640-B179-84F8224DCDCA}" type="pres">
      <dgm:prSet presAssocID="{65A3BF84-62BD-8B4D-9115-D5C002538D9C}" presName="center2" presStyleLbl="fgShp" presStyleIdx="1" presStyleCnt="2"/>
      <dgm:spPr>
        <a:noFill/>
        <a:ln>
          <a:noFill/>
        </a:ln>
      </dgm:spPr>
    </dgm:pt>
  </dgm:ptLst>
  <dgm:cxnLst>
    <dgm:cxn modelId="{211A0C03-83E8-AE43-9493-3DA3E9C653FC}" srcId="{6F9CE46F-3EF5-6C4C-8C84-030149D4F935}" destId="{EC27034D-DBE0-AA4A-93F2-DEF9DB0C4C63}" srcOrd="0" destOrd="0" parTransId="{BCE06CB0-760D-7B4A-A27C-80C5ED4A4E5E}" sibTransId="{DD1FB806-D2CA-294D-934A-A6AD0160C8A3}"/>
    <dgm:cxn modelId="{C73C6F07-BF48-3242-94F3-381B4F7E9923}" type="presOf" srcId="{BF4F4DDB-3DF4-7C48-A4F3-35E331DACC90}" destId="{63AAE070-D071-3D46-9F2F-96884FADCFC5}" srcOrd="0" destOrd="1" presId="urn:microsoft.com/office/officeart/2005/8/layout/cycle4"/>
    <dgm:cxn modelId="{B3A93F11-BF8A-EA48-A9DF-EC978313F6FC}" srcId="{65A3BF84-62BD-8B4D-9115-D5C002538D9C}" destId="{DB73EBB8-7D0C-0C44-9BC3-0AFB389C17A3}" srcOrd="2" destOrd="0" parTransId="{F81C9A72-88D8-4F4E-B123-4064BDD5CE2A}" sibTransId="{3F80F0E1-A106-5440-995E-DE0317911EAF}"/>
    <dgm:cxn modelId="{9806AE1D-407F-2D49-B0E8-1D8C3D8A20C6}" type="presOf" srcId="{BF4F4DDB-3DF4-7C48-A4F3-35E331DACC90}" destId="{59DC3AD3-D0A5-364A-8D09-7063699C5A3A}" srcOrd="1" destOrd="1" presId="urn:microsoft.com/office/officeart/2005/8/layout/cycle4"/>
    <dgm:cxn modelId="{A1D2AE1F-D431-FC41-B1ED-7D4F9990EC0F}" srcId="{65A3BF84-62BD-8B4D-9115-D5C002538D9C}" destId="{4E51985B-0E6A-2C45-B77E-23C6337B9797}" srcOrd="0" destOrd="0" parTransId="{42FC593B-4596-AD44-8C4D-BBBA463726AF}" sibTransId="{22BE3CCA-01B6-1F43-9466-511FDC8CEC1D}"/>
    <dgm:cxn modelId="{800D3121-E2BE-1B46-A59E-116E0AD8E8EA}" type="presOf" srcId="{B6B06112-3A0B-4946-B136-D630DDE1BA7F}" destId="{B8671910-4797-A740-AE9A-D532BD4804C8}" srcOrd="1" destOrd="1" presId="urn:microsoft.com/office/officeart/2005/8/layout/cycle4"/>
    <dgm:cxn modelId="{B8FAF024-6F47-D645-91D8-808D9C1B7010}" type="presOf" srcId="{CF060C95-145C-4B44-98B5-61C286590ACB}" destId="{5F5C7BA5-70E6-934C-8D35-550307642F61}" srcOrd="0" destOrd="2" presId="urn:microsoft.com/office/officeart/2005/8/layout/cycle4"/>
    <dgm:cxn modelId="{5801B327-4504-E44C-87A4-B16055A18C42}" type="presOf" srcId="{13320195-4490-754A-9D9F-4519D2BD4833}" destId="{5F5C7BA5-70E6-934C-8D35-550307642F61}" srcOrd="0" destOrd="3" presId="urn:microsoft.com/office/officeart/2005/8/layout/cycle4"/>
    <dgm:cxn modelId="{D24EBE2D-074D-4447-8A6A-8C005B3AC417}" type="presOf" srcId="{6F9CE46F-3EF5-6C4C-8C84-030149D4F935}" destId="{C27040B9-1B89-FA40-A609-16AE0BCB1527}" srcOrd="0" destOrd="0" presId="urn:microsoft.com/office/officeart/2005/8/layout/cycle4"/>
    <dgm:cxn modelId="{CA49B42F-70E3-3949-810A-969892E6AA71}" srcId="{D822CA6F-EF73-2140-9F29-BAEEC9FB4D15}" destId="{BF4F4DDB-3DF4-7C48-A4F3-35E331DACC90}" srcOrd="1" destOrd="0" parTransId="{D6F1BD79-5084-E642-B9AC-AD0D750A12A1}" sibTransId="{78598BD6-1EE5-5A46-A50C-A660F585CDC3}"/>
    <dgm:cxn modelId="{2255F62F-3F8E-4B40-AE83-6F4E72B3E264}" type="presOf" srcId="{D822CA6F-EF73-2140-9F29-BAEEC9FB4D15}" destId="{C24FDE23-AE62-F347-99FD-C2C486F5A49D}" srcOrd="0" destOrd="0" presId="urn:microsoft.com/office/officeart/2005/8/layout/cycle4"/>
    <dgm:cxn modelId="{D995D633-805D-0048-B9E2-511297C508D8}" srcId="{65A3BF84-62BD-8B4D-9115-D5C002538D9C}" destId="{6F9CE46F-3EF5-6C4C-8C84-030149D4F935}" srcOrd="3" destOrd="0" parTransId="{B6161AD3-2103-6B4A-A47F-555B2FDA166F}" sibTransId="{28D556CA-824D-3745-A679-3EAAE29116C1}"/>
    <dgm:cxn modelId="{556CD540-41C2-FD4A-888A-24A43460F717}" type="presOf" srcId="{65A3BF84-62BD-8B4D-9115-D5C002538D9C}" destId="{BFE3AB94-DC06-044E-A5D6-2217B140D4AE}" srcOrd="0" destOrd="0" presId="urn:microsoft.com/office/officeart/2005/8/layout/cycle4"/>
    <dgm:cxn modelId="{F3470D68-CAED-CE4A-B05D-FA3B67C85A3B}" srcId="{DB73EBB8-7D0C-0C44-9BC3-0AFB389C17A3}" destId="{381EB79E-DFDF-F646-A520-DC904E17FB7D}" srcOrd="1" destOrd="0" parTransId="{F3CDDB22-F16B-C044-AEF4-1910597354BF}" sibTransId="{CDCAF2E3-527B-3B4B-AEC1-7D89DCDE8399}"/>
    <dgm:cxn modelId="{F0B5E94A-45FF-7947-AED4-E144B049CE9F}" srcId="{65A3BF84-62BD-8B4D-9115-D5C002538D9C}" destId="{D822CA6F-EF73-2140-9F29-BAEEC9FB4D15}" srcOrd="1" destOrd="0" parTransId="{925A8BE6-3097-A54E-A9BF-F5A7D650AE35}" sibTransId="{83CF7DA4-4175-B04A-B093-9A1AC99F75B8}"/>
    <dgm:cxn modelId="{B06D046B-0C6C-D846-8344-756F552ABC75}" type="presOf" srcId="{13320195-4490-754A-9D9F-4519D2BD4833}" destId="{F24D3814-395B-EB4F-9B6A-9664D5A3F8D2}" srcOrd="1" destOrd="3" presId="urn:microsoft.com/office/officeart/2005/8/layout/cycle4"/>
    <dgm:cxn modelId="{0C670D70-0535-9F40-83B9-E4B2CF37C58E}" srcId="{6F9CE46F-3EF5-6C4C-8C84-030149D4F935}" destId="{B6B06112-3A0B-4946-B136-D630DDE1BA7F}" srcOrd="1" destOrd="0" parTransId="{4D204099-CE18-8047-9EC9-BE4BAAC0E85D}" sibTransId="{60618F3A-0012-8049-910B-59D46ED0F6F6}"/>
    <dgm:cxn modelId="{5E2E6F73-DB9C-D541-B741-26A597FDA763}" srcId="{8F3C8950-15F2-3A45-9D34-14A2B8009A08}" destId="{F2D3EEDD-9982-BD4A-BCF9-FF20F1E519F3}" srcOrd="0" destOrd="0" parTransId="{2359EA3B-EF15-A74A-8211-1EBEAAE49F41}" sibTransId="{438A7408-4FFE-C641-90FC-023C8E9E82BE}"/>
    <dgm:cxn modelId="{C318CE7F-99D7-9A41-B602-68A09B97E626}" type="presOf" srcId="{EC27034D-DBE0-AA4A-93F2-DEF9DB0C4C63}" destId="{B8671910-4797-A740-AE9A-D532BD4804C8}" srcOrd="1" destOrd="0" presId="urn:microsoft.com/office/officeart/2005/8/layout/cycle4"/>
    <dgm:cxn modelId="{3724DB8F-CA2F-A14B-91ED-544C7627956E}" type="presOf" srcId="{381EB79E-DFDF-F646-A520-DC904E17FB7D}" destId="{5F5C7BA5-70E6-934C-8D35-550307642F61}" srcOrd="0" destOrd="4" presId="urn:microsoft.com/office/officeart/2005/8/layout/cycle4"/>
    <dgm:cxn modelId="{BD4CE99B-632F-E14B-9E85-BD3FE446706A}" type="presOf" srcId="{F2D3EEDD-9982-BD4A-BCF9-FF20F1E519F3}" destId="{5F5C7BA5-70E6-934C-8D35-550307642F61}" srcOrd="0" destOrd="1" presId="urn:microsoft.com/office/officeart/2005/8/layout/cycle4"/>
    <dgm:cxn modelId="{FF86089E-DEAB-7640-B515-9FC8EAB8E200}" srcId="{D822CA6F-EF73-2140-9F29-BAEEC9FB4D15}" destId="{6E4CB41E-7557-2A4A-A0D6-1E26704D6D85}" srcOrd="0" destOrd="0" parTransId="{E40DCEA4-4BA5-CF4D-98A6-6BC9CD319008}" sibTransId="{90515930-2F07-7946-A1A4-5200487AF7CB}"/>
    <dgm:cxn modelId="{36A159A2-5500-7A47-B55F-1F94DB82E4DA}" srcId="{4E51985B-0E6A-2C45-B77E-23C6337B9797}" destId="{1F0CBCFF-1B29-1847-A878-4C9C3D07CB4B}" srcOrd="0" destOrd="0" parTransId="{92051893-3B2D-3546-B7DA-58BB6E382737}" sibTransId="{28F218FB-F7EF-BD4C-8FA5-5AE2E55D233F}"/>
    <dgm:cxn modelId="{555998C0-7433-5E45-9963-7BD42892D3B1}" type="presOf" srcId="{F2D3EEDD-9982-BD4A-BCF9-FF20F1E519F3}" destId="{F24D3814-395B-EB4F-9B6A-9664D5A3F8D2}" srcOrd="1" destOrd="1" presId="urn:microsoft.com/office/officeart/2005/8/layout/cycle4"/>
    <dgm:cxn modelId="{0A03D3C0-95AF-BE47-BFEE-93596816B85D}" type="presOf" srcId="{1F0CBCFF-1B29-1847-A878-4C9C3D07CB4B}" destId="{67BAF327-C412-284C-AF66-A6DB30D35B97}" srcOrd="1" destOrd="0" presId="urn:microsoft.com/office/officeart/2005/8/layout/cycle4"/>
    <dgm:cxn modelId="{F7D3B7C4-7B5B-4E44-911E-5B189E26F01D}" srcId="{DB73EBB8-7D0C-0C44-9BC3-0AFB389C17A3}" destId="{8F3C8950-15F2-3A45-9D34-14A2B8009A08}" srcOrd="0" destOrd="0" parTransId="{AAD6F751-8740-D845-B179-23E9EE2A8058}" sibTransId="{C0F0EB19-5CE4-D343-AD12-9D8440530DCA}"/>
    <dgm:cxn modelId="{FF7CBDCE-CEEC-A041-9F4B-2C3AE233D45A}" type="presOf" srcId="{8F3C8950-15F2-3A45-9D34-14A2B8009A08}" destId="{F24D3814-395B-EB4F-9B6A-9664D5A3F8D2}" srcOrd="1" destOrd="0" presId="urn:microsoft.com/office/officeart/2005/8/layout/cycle4"/>
    <dgm:cxn modelId="{2A2198D1-65AD-E34F-BD4D-2C538774B816}" type="presOf" srcId="{DB73EBB8-7D0C-0C44-9BC3-0AFB389C17A3}" destId="{EDD24897-3753-EF46-8095-EDE3AFFB1EC1}" srcOrd="0" destOrd="0" presId="urn:microsoft.com/office/officeart/2005/8/layout/cycle4"/>
    <dgm:cxn modelId="{CDB3E7DE-4376-F547-96E1-FF027A009C16}" type="presOf" srcId="{4E51985B-0E6A-2C45-B77E-23C6337B9797}" destId="{D84E920D-B120-8648-B772-1FB1EC611788}" srcOrd="0" destOrd="0" presId="urn:microsoft.com/office/officeart/2005/8/layout/cycle4"/>
    <dgm:cxn modelId="{3B148AE2-C339-484A-BB0C-3A5B6B4DE32A}" type="presOf" srcId="{6E4CB41E-7557-2A4A-A0D6-1E26704D6D85}" destId="{59DC3AD3-D0A5-364A-8D09-7063699C5A3A}" srcOrd="1" destOrd="0" presId="urn:microsoft.com/office/officeart/2005/8/layout/cycle4"/>
    <dgm:cxn modelId="{20A50EF0-885E-7544-8192-45EDC40F4AAA}" type="presOf" srcId="{EC27034D-DBE0-AA4A-93F2-DEF9DB0C4C63}" destId="{6E45D095-A0D8-D049-AA6B-C69F08E42A93}" srcOrd="0" destOrd="0" presId="urn:microsoft.com/office/officeart/2005/8/layout/cycle4"/>
    <dgm:cxn modelId="{BE84CCF1-56AC-2641-A662-8B2D6482EB5F}" type="presOf" srcId="{8F3C8950-15F2-3A45-9D34-14A2B8009A08}" destId="{5F5C7BA5-70E6-934C-8D35-550307642F61}" srcOrd="0" destOrd="0" presId="urn:microsoft.com/office/officeart/2005/8/layout/cycle4"/>
    <dgm:cxn modelId="{D57846F2-A989-7A40-B8E8-77FB486AB492}" type="presOf" srcId="{CF060C95-145C-4B44-98B5-61C286590ACB}" destId="{F24D3814-395B-EB4F-9B6A-9664D5A3F8D2}" srcOrd="1" destOrd="2" presId="urn:microsoft.com/office/officeart/2005/8/layout/cycle4"/>
    <dgm:cxn modelId="{983602F5-10CA-D247-B821-2A30FEBFD3BD}" srcId="{8F3C8950-15F2-3A45-9D34-14A2B8009A08}" destId="{13320195-4490-754A-9D9F-4519D2BD4833}" srcOrd="2" destOrd="0" parTransId="{5997757A-291F-A549-937E-4EA2BAC41458}" sibTransId="{F11B6F55-EECC-2141-9764-3C9E1CE4D26A}"/>
    <dgm:cxn modelId="{80270BF6-67D7-3C4F-AC87-4585FDB93946}" type="presOf" srcId="{1F0CBCFF-1B29-1847-A878-4C9C3D07CB4B}" destId="{7BCE7B46-24CB-A349-8C82-3A1168484AF7}" srcOrd="0" destOrd="0" presId="urn:microsoft.com/office/officeart/2005/8/layout/cycle4"/>
    <dgm:cxn modelId="{D99D6EF6-0958-B248-934B-A745C71E6D87}" srcId="{8F3C8950-15F2-3A45-9D34-14A2B8009A08}" destId="{CF060C95-145C-4B44-98B5-61C286590ACB}" srcOrd="1" destOrd="0" parTransId="{D6A6BBDF-61C3-D24E-B315-4B50E4C68A98}" sibTransId="{4C226041-8D3B-5244-9009-C22DC520A2D8}"/>
    <dgm:cxn modelId="{B9C4BCF9-723E-B340-9075-3779BE4FFE7C}" type="presOf" srcId="{6E4CB41E-7557-2A4A-A0D6-1E26704D6D85}" destId="{63AAE070-D071-3D46-9F2F-96884FADCFC5}" srcOrd="0" destOrd="0" presId="urn:microsoft.com/office/officeart/2005/8/layout/cycle4"/>
    <dgm:cxn modelId="{35732EFE-B475-394A-894D-61746BA4C6A6}" type="presOf" srcId="{381EB79E-DFDF-F646-A520-DC904E17FB7D}" destId="{F24D3814-395B-EB4F-9B6A-9664D5A3F8D2}" srcOrd="1" destOrd="4" presId="urn:microsoft.com/office/officeart/2005/8/layout/cycle4"/>
    <dgm:cxn modelId="{30CB91FE-2EF7-F349-8E27-52597551FB0B}" type="presOf" srcId="{B6B06112-3A0B-4946-B136-D630DDE1BA7F}" destId="{6E45D095-A0D8-D049-AA6B-C69F08E42A93}" srcOrd="0" destOrd="1" presId="urn:microsoft.com/office/officeart/2005/8/layout/cycle4"/>
    <dgm:cxn modelId="{CEE38A00-F7DB-3D40-8BD2-260DB96094FC}" type="presParOf" srcId="{BFE3AB94-DC06-044E-A5D6-2217B140D4AE}" destId="{ADC6F375-248F-2F49-B9DD-020816FE945C}" srcOrd="0" destOrd="0" presId="urn:microsoft.com/office/officeart/2005/8/layout/cycle4"/>
    <dgm:cxn modelId="{0D8E4C50-C0A5-564B-9C53-834D7BBEBE8F}" type="presParOf" srcId="{ADC6F375-248F-2F49-B9DD-020816FE945C}" destId="{354F1FE1-6703-D14C-972E-6ECA308E6649}" srcOrd="0" destOrd="0" presId="urn:microsoft.com/office/officeart/2005/8/layout/cycle4"/>
    <dgm:cxn modelId="{2BDDE7EC-E4BA-174F-80D8-9BBA8FF009EF}" type="presParOf" srcId="{354F1FE1-6703-D14C-972E-6ECA308E6649}" destId="{7BCE7B46-24CB-A349-8C82-3A1168484AF7}" srcOrd="0" destOrd="0" presId="urn:microsoft.com/office/officeart/2005/8/layout/cycle4"/>
    <dgm:cxn modelId="{50D49D78-95CF-0449-8972-551F3C86BE36}" type="presParOf" srcId="{354F1FE1-6703-D14C-972E-6ECA308E6649}" destId="{67BAF327-C412-284C-AF66-A6DB30D35B97}" srcOrd="1" destOrd="0" presId="urn:microsoft.com/office/officeart/2005/8/layout/cycle4"/>
    <dgm:cxn modelId="{C6B57E08-8172-F34D-9635-9C638FFC88A5}" type="presParOf" srcId="{ADC6F375-248F-2F49-B9DD-020816FE945C}" destId="{4435128C-2493-9C44-9046-A75119411C10}" srcOrd="1" destOrd="0" presId="urn:microsoft.com/office/officeart/2005/8/layout/cycle4"/>
    <dgm:cxn modelId="{EDCF80A5-8322-0D42-8212-09EE2EB56C07}" type="presParOf" srcId="{4435128C-2493-9C44-9046-A75119411C10}" destId="{63AAE070-D071-3D46-9F2F-96884FADCFC5}" srcOrd="0" destOrd="0" presId="urn:microsoft.com/office/officeart/2005/8/layout/cycle4"/>
    <dgm:cxn modelId="{0D4A1C2D-27D8-C94F-89D3-120C00B2EDC1}" type="presParOf" srcId="{4435128C-2493-9C44-9046-A75119411C10}" destId="{59DC3AD3-D0A5-364A-8D09-7063699C5A3A}" srcOrd="1" destOrd="0" presId="urn:microsoft.com/office/officeart/2005/8/layout/cycle4"/>
    <dgm:cxn modelId="{F58E5560-7D29-7747-9EE7-50DDD15065E8}" type="presParOf" srcId="{ADC6F375-248F-2F49-B9DD-020816FE945C}" destId="{274825E2-9FBB-B947-9C58-E5F001726954}" srcOrd="2" destOrd="0" presId="urn:microsoft.com/office/officeart/2005/8/layout/cycle4"/>
    <dgm:cxn modelId="{72E70E44-4BDD-5041-87DA-32A9BE1BDF6F}" type="presParOf" srcId="{274825E2-9FBB-B947-9C58-E5F001726954}" destId="{5F5C7BA5-70E6-934C-8D35-550307642F61}" srcOrd="0" destOrd="0" presId="urn:microsoft.com/office/officeart/2005/8/layout/cycle4"/>
    <dgm:cxn modelId="{D309AB0B-EED4-6244-B84A-7435B542D17D}" type="presParOf" srcId="{274825E2-9FBB-B947-9C58-E5F001726954}" destId="{F24D3814-395B-EB4F-9B6A-9664D5A3F8D2}" srcOrd="1" destOrd="0" presId="urn:microsoft.com/office/officeart/2005/8/layout/cycle4"/>
    <dgm:cxn modelId="{C4109EA5-33F1-EA4F-A897-35A1FE59EB08}" type="presParOf" srcId="{ADC6F375-248F-2F49-B9DD-020816FE945C}" destId="{858DB4D7-58DD-9249-87E9-DCB5EADC521F}" srcOrd="3" destOrd="0" presId="urn:microsoft.com/office/officeart/2005/8/layout/cycle4"/>
    <dgm:cxn modelId="{3DB80B7A-D027-A745-AA3B-3740236D088C}" type="presParOf" srcId="{858DB4D7-58DD-9249-87E9-DCB5EADC521F}" destId="{6E45D095-A0D8-D049-AA6B-C69F08E42A93}" srcOrd="0" destOrd="0" presId="urn:microsoft.com/office/officeart/2005/8/layout/cycle4"/>
    <dgm:cxn modelId="{54A1E837-1C9D-0549-8054-80EC9BA89D25}" type="presParOf" srcId="{858DB4D7-58DD-9249-87E9-DCB5EADC521F}" destId="{B8671910-4797-A740-AE9A-D532BD4804C8}" srcOrd="1" destOrd="0" presId="urn:microsoft.com/office/officeart/2005/8/layout/cycle4"/>
    <dgm:cxn modelId="{38E41C10-E7B2-5042-B21E-58460325B8DA}" type="presParOf" srcId="{ADC6F375-248F-2F49-B9DD-020816FE945C}" destId="{810265D4-C7A7-E547-8DF9-D90B49E8DC0A}" srcOrd="4" destOrd="0" presId="urn:microsoft.com/office/officeart/2005/8/layout/cycle4"/>
    <dgm:cxn modelId="{2BDE768E-EF6E-8D4F-BFCF-39FF2C768C93}" type="presParOf" srcId="{BFE3AB94-DC06-044E-A5D6-2217B140D4AE}" destId="{0E55F5B5-E45A-5540-BF5E-8A451641DB35}" srcOrd="1" destOrd="0" presId="urn:microsoft.com/office/officeart/2005/8/layout/cycle4"/>
    <dgm:cxn modelId="{9AEB4DAB-BFCD-8F4C-AA68-6A1DAAB179E9}" type="presParOf" srcId="{0E55F5B5-E45A-5540-BF5E-8A451641DB35}" destId="{D84E920D-B120-8648-B772-1FB1EC611788}" srcOrd="0" destOrd="0" presId="urn:microsoft.com/office/officeart/2005/8/layout/cycle4"/>
    <dgm:cxn modelId="{53E071C5-4397-FF45-A6CE-6767CE582B37}" type="presParOf" srcId="{0E55F5B5-E45A-5540-BF5E-8A451641DB35}" destId="{C24FDE23-AE62-F347-99FD-C2C486F5A49D}" srcOrd="1" destOrd="0" presId="urn:microsoft.com/office/officeart/2005/8/layout/cycle4"/>
    <dgm:cxn modelId="{376A8BDA-AABD-CB48-A778-DE1CE3F0CEB8}" type="presParOf" srcId="{0E55F5B5-E45A-5540-BF5E-8A451641DB35}" destId="{EDD24897-3753-EF46-8095-EDE3AFFB1EC1}" srcOrd="2" destOrd="0" presId="urn:microsoft.com/office/officeart/2005/8/layout/cycle4"/>
    <dgm:cxn modelId="{99F8D877-383D-FC4D-9EE6-CADD505C1F1A}" type="presParOf" srcId="{0E55F5B5-E45A-5540-BF5E-8A451641DB35}" destId="{C27040B9-1B89-FA40-A609-16AE0BCB1527}" srcOrd="3" destOrd="0" presId="urn:microsoft.com/office/officeart/2005/8/layout/cycle4"/>
    <dgm:cxn modelId="{834CA25A-94BC-1D4F-BF43-183F43DF8B05}" type="presParOf" srcId="{0E55F5B5-E45A-5540-BF5E-8A451641DB35}" destId="{B867B0F8-9AAB-9740-AEE5-5409AA441D72}" srcOrd="4" destOrd="0" presId="urn:microsoft.com/office/officeart/2005/8/layout/cycle4"/>
    <dgm:cxn modelId="{1EFFBD71-4A15-554F-9166-0BE5617F9783}" type="presParOf" srcId="{BFE3AB94-DC06-044E-A5D6-2217B140D4AE}" destId="{26A59C4E-5CF8-C243-85F0-DEA42F494E7F}" srcOrd="2" destOrd="0" presId="urn:microsoft.com/office/officeart/2005/8/layout/cycle4"/>
    <dgm:cxn modelId="{C5E53414-AFEC-B947-A170-F5529D3154BF}" type="presParOf" srcId="{BFE3AB94-DC06-044E-A5D6-2217B140D4AE}" destId="{FA89F2B5-639C-2640-B179-84F8224DCDCA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C7BA5-70E6-934C-8D35-550307642F61}">
      <dsp:nvSpPr>
        <dsp:cNvPr id="0" name=""/>
        <dsp:cNvSpPr/>
      </dsp:nvSpPr>
      <dsp:spPr>
        <a:xfrm>
          <a:off x="6947556" y="3285040"/>
          <a:ext cx="4884252" cy="32370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b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noProof="0"/>
            <a:t> H3DE-Net is a hybrid architecture combining: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None/>
          </a:pPr>
          <a:r>
            <a:rPr lang="en-GB" sz="1100" kern="1200" noProof="0"/>
            <a:t>- CNN layers for efficient extraction of local features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None/>
          </a:pPr>
          <a:r>
            <a:rPr lang="en-GB" sz="1100" kern="1200" noProof="0"/>
            <a:t>- 3D BiFormer module that captures global context with low computational cost.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None/>
          </a:pPr>
          <a:r>
            <a:rPr lang="en-GB" sz="1100" kern="1200" noProof="0"/>
            <a:t>- Feature fusion model that enhances the model’s robustness and precision.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None/>
          </a:pPr>
          <a:r>
            <a:rPr lang="en-GB" sz="1100" kern="1200" noProof="0"/>
            <a:t>Extensive experiments on a public dataset demonstrate that H3DE-Net significantly outperforms existing methods, as accuracy and robustness. The proposed model excels in challenging scenarios, such as missing landmarks or complex anatomical variations, making it a promising approach for real world clinical applications.</a:t>
          </a:r>
        </a:p>
      </dsp:txBody>
      <dsp:txXfrm>
        <a:off x="8483939" y="4165419"/>
        <a:ext cx="3276761" cy="2285596"/>
      </dsp:txXfrm>
    </dsp:sp>
    <dsp:sp modelId="{6E45D095-A0D8-D049-AA6B-C69F08E42A93}">
      <dsp:nvSpPr>
        <dsp:cNvPr id="0" name=""/>
        <dsp:cNvSpPr/>
      </dsp:nvSpPr>
      <dsp:spPr>
        <a:xfrm>
          <a:off x="373745" y="3495396"/>
          <a:ext cx="4715742" cy="28137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b" anchorCtr="1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GB" sz="1100" b="0" i="0" u="none" kern="1200" noProof="0"/>
            <a:t>Voxel intensities in all CT scans are normalized to the range [0, 255], allowing the model to be less affected by imaging artifacts or variations in intensity scaling</a:t>
          </a:r>
          <a:r>
            <a:rPr lang="it-IT" sz="1100" b="0" i="0" u="none" kern="1200"/>
            <a:t>.</a:t>
          </a:r>
          <a:endParaRPr lang="en-GB" sz="1100" kern="1200" noProof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GB" sz="1100" kern="1200"/>
            <a:t>Since 3D CT images are very large, the authors divided the volume into smaller 3D patches by extracting a geometrically centred crop from the middle of the volume, where the mandible, mandibular landmarks, and the centre of the skull are typically located.</a:t>
          </a:r>
          <a:br>
            <a:rPr lang="en-GB" sz="1100" kern="1200"/>
          </a:br>
          <a:r>
            <a:rPr lang="en-GB" sz="1100" kern="1200"/>
            <a:t>Training is performed on these subregions  instead of the entire scan.</a:t>
          </a:r>
        </a:p>
      </dsp:txBody>
      <dsp:txXfrm>
        <a:off x="435555" y="4260653"/>
        <a:ext cx="3177399" cy="1986721"/>
      </dsp:txXfrm>
    </dsp:sp>
    <dsp:sp modelId="{63AAE070-D071-3D46-9F2F-96884FADCFC5}">
      <dsp:nvSpPr>
        <dsp:cNvPr id="0" name=""/>
        <dsp:cNvSpPr/>
      </dsp:nvSpPr>
      <dsp:spPr>
        <a:xfrm>
          <a:off x="6777179" y="474619"/>
          <a:ext cx="3758264" cy="19868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100" kern="1200" noProof="0"/>
            <a:t>MRE</a:t>
          </a:r>
          <a14:m xmlns:a14="http://schemas.microsoft.com/office/drawing/2010/main">
            <m:oMath xmlns:m="http://schemas.openxmlformats.org/officeDocument/2006/math">
              <m:r>
                <a:rPr lang="en-GB" sz="1100" i="1" kern="1200" noProof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m:t>±</m:t>
              </m:r>
            </m:oMath>
          </a14:m>
          <a:r>
            <a:rPr lang="en-GB" sz="1100" kern="1200" noProof="0"/>
            <a:t>SD (mm): the mean radial error represents the average Euclidean distance between the predicted and true values.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100" kern="1200" noProof="0"/>
            <a:t>SDR: successful detection rate measures the accuracy of the detected landmarks at difference distances (2mm, 2.5mm, 3mm, 4mm).</a:t>
          </a:r>
        </a:p>
      </dsp:txBody>
      <dsp:txXfrm>
        <a:off x="7948302" y="518263"/>
        <a:ext cx="2543496" cy="1402834"/>
      </dsp:txXfrm>
    </dsp:sp>
    <dsp:sp modelId="{7BCE7B46-24CB-A349-8C82-3A1168484AF7}">
      <dsp:nvSpPr>
        <dsp:cNvPr id="0" name=""/>
        <dsp:cNvSpPr/>
      </dsp:nvSpPr>
      <dsp:spPr>
        <a:xfrm>
          <a:off x="1402504" y="560986"/>
          <a:ext cx="3368764" cy="19792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1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kern="1200" noProof="0"/>
            <a:t>The model is trained and evaluated on a public cranial CT scans, each annotated with 14 mandibular anatomical landmarks.</a:t>
          </a:r>
        </a:p>
      </dsp:txBody>
      <dsp:txXfrm>
        <a:off x="1445982" y="604464"/>
        <a:ext cx="2271179" cy="1397504"/>
      </dsp:txXfrm>
    </dsp:sp>
    <dsp:sp modelId="{D84E920D-B120-8648-B772-1FB1EC611788}">
      <dsp:nvSpPr>
        <dsp:cNvPr id="0" name=""/>
        <dsp:cNvSpPr/>
      </dsp:nvSpPr>
      <dsp:spPr>
        <a:xfrm>
          <a:off x="3572239" y="873667"/>
          <a:ext cx="2221853" cy="2221853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/>
            <a:t>Data Used</a:t>
          </a:r>
        </a:p>
      </dsp:txBody>
      <dsp:txXfrm>
        <a:off x="4223005" y="1524433"/>
        <a:ext cx="1571087" cy="1571087"/>
      </dsp:txXfrm>
    </dsp:sp>
    <dsp:sp modelId="{C24FDE23-AE62-F347-99FD-C2C486F5A49D}">
      <dsp:nvSpPr>
        <dsp:cNvPr id="0" name=""/>
        <dsp:cNvSpPr/>
      </dsp:nvSpPr>
      <dsp:spPr>
        <a:xfrm rot="5400000">
          <a:off x="5943352" y="873667"/>
          <a:ext cx="2221853" cy="2221853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/>
            <a:t>Performance Evaluation Metrics</a:t>
          </a:r>
        </a:p>
      </dsp:txBody>
      <dsp:txXfrm rot="-5400000">
        <a:off x="5943352" y="1524433"/>
        <a:ext cx="1571087" cy="1571087"/>
      </dsp:txXfrm>
    </dsp:sp>
    <dsp:sp modelId="{EDD24897-3753-EF46-8095-EDE3AFFB1EC1}">
      <dsp:nvSpPr>
        <dsp:cNvPr id="0" name=""/>
        <dsp:cNvSpPr/>
      </dsp:nvSpPr>
      <dsp:spPr>
        <a:xfrm rot="10800000">
          <a:off x="5943594" y="3192195"/>
          <a:ext cx="2220401" cy="2220401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/>
            <a:t>Deep Learning Architecture</a:t>
          </a:r>
        </a:p>
      </dsp:txBody>
      <dsp:txXfrm rot="10800000">
        <a:off x="5943594" y="3192195"/>
        <a:ext cx="1570061" cy="1570061"/>
      </dsp:txXfrm>
    </dsp:sp>
    <dsp:sp modelId="{C27040B9-1B89-FA40-A609-16AE0BCB1527}">
      <dsp:nvSpPr>
        <dsp:cNvPr id="0" name=""/>
        <dsp:cNvSpPr/>
      </dsp:nvSpPr>
      <dsp:spPr>
        <a:xfrm rot="16200000">
          <a:off x="3571191" y="3211740"/>
          <a:ext cx="2221853" cy="2221853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/>
            <a:t>Pre-processing Applied</a:t>
          </a:r>
        </a:p>
      </dsp:txBody>
      <dsp:txXfrm rot="5400000">
        <a:off x="4221957" y="3211740"/>
        <a:ext cx="1571087" cy="1571087"/>
      </dsp:txXfrm>
    </dsp:sp>
    <dsp:sp modelId="{26A59C4E-5CF8-C243-85F0-DEA42F494E7F}">
      <dsp:nvSpPr>
        <dsp:cNvPr id="0" name=""/>
        <dsp:cNvSpPr/>
      </dsp:nvSpPr>
      <dsp:spPr>
        <a:xfrm>
          <a:off x="5451793" y="2720378"/>
          <a:ext cx="928222" cy="773314"/>
        </a:xfrm>
        <a:prstGeom prst="circularArrow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A89F2B5-639C-2640-B179-84F8224DCDCA}">
      <dsp:nvSpPr>
        <dsp:cNvPr id="0" name=""/>
        <dsp:cNvSpPr/>
      </dsp:nvSpPr>
      <dsp:spPr>
        <a:xfrm rot="10800000">
          <a:off x="5451793" y="3013902"/>
          <a:ext cx="928222" cy="807149"/>
        </a:xfrm>
        <a:prstGeom prst="circularArrow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r">
              <a:defRPr sz="1200"/>
            </a:lvl1pPr>
          </a:lstStyle>
          <a:p>
            <a:fld id="{83B7013E-601C-4C82-B486-1116B4A98267}" type="datetimeFigureOut">
              <a:rPr lang="it-IT" smtClean="0"/>
              <a:t>18/02/26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4" tIns="45712" rIns="91424" bIns="45712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24" tIns="45712" rIns="91424" bIns="45712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r">
              <a:defRPr sz="1200"/>
            </a:lvl1pPr>
          </a:lstStyle>
          <a:p>
            <a:fld id="{502FD02A-EEFC-4C9C-9B63-0C01BC043D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088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Questo </a:t>
            </a:r>
            <a:r>
              <a:rPr lang="it-IT" err="1"/>
              <a:t>template</a:t>
            </a:r>
            <a:r>
              <a:rPr lang="it-IT"/>
              <a:t> è stato creato per agevolare la produzione di slide e presentazioni a scopo didattico, è pensato inoltre per rendere il contenuto ben fruibile.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2FD02A-EEFC-4C9C-9B63-0C01BC043D96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6815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Sono presenti 20 tipologie di slide differenti, si possono scegliere dal pannello Layout. Ogni slide ha lo scopo di evidenziare il differente contenuto nel modo migliore.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2FD02A-EEFC-4C9C-9B63-0C01BC043D9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3539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8FD9E-C490-8246-0D24-A0F29C46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2CA4315-17E9-4B87-D423-2F15B225C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D397F5F-C2F1-2380-DA6A-6758DA93B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A0C83A-E322-1E09-6ED7-25B12CD62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2FD02A-EEFC-4C9C-9B63-0C01BC043D9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2185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5694-5DDF-C021-9BCE-5F6B84A8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098FB59-8744-2804-7A96-69E8489B2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7BF50CB-5A7A-17E8-B477-659D59D36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preprocessing pipeline involves two main tasks: converting anatomical landmarks from physical space to </a:t>
            </a:r>
            <a:r>
              <a:rPr lang="en-US" err="1"/>
              <a:t>voxel</a:t>
            </a:r>
            <a:r>
              <a:rPr lang="en-US"/>
              <a:t> space, and reformatting volumetric images for further analysis.</a:t>
            </a:r>
          </a:p>
          <a:p>
            <a:r>
              <a:rPr lang="en-US"/>
              <a:t>For the </a:t>
            </a:r>
            <a:r>
              <a:rPr lang="en-US" b="1"/>
              <a:t>landmark processing</a:t>
            </a:r>
            <a:r>
              <a:rPr lang="en-US"/>
              <a:t>, we start from .</a:t>
            </a:r>
            <a:r>
              <a:rPr lang="en-US" err="1"/>
              <a:t>mrk.json</a:t>
            </a:r>
            <a:r>
              <a:rPr lang="en-US"/>
              <a:t> files that contain anatomical coordinates defined in millimeters. These are matched with their corresponding .</a:t>
            </a:r>
            <a:r>
              <a:rPr lang="en-US" err="1"/>
              <a:t>nii.gz</a:t>
            </a:r>
            <a:r>
              <a:rPr lang="en-US"/>
              <a:t> images, which are read using ITK. We extract the image spacing and use it to convert the physical (millimeter-based) positions into </a:t>
            </a:r>
            <a:r>
              <a:rPr lang="en-US" err="1"/>
              <a:t>voxel</a:t>
            </a:r>
            <a:r>
              <a:rPr lang="en-US"/>
              <a:t> indices through the </a:t>
            </a:r>
            <a:r>
              <a:rPr lang="en-US" err="1"/>
              <a:t>TransformPhysicalPointToIndex</a:t>
            </a:r>
            <a:r>
              <a:rPr lang="en-US"/>
              <a:t> method. The resulting </a:t>
            </a:r>
            <a:r>
              <a:rPr lang="en-US" err="1"/>
              <a:t>voxel</a:t>
            </a:r>
            <a:r>
              <a:rPr lang="en-US"/>
              <a:t> coordinates, reordered to follow the (z, y, x) convention, are saved in .</a:t>
            </a:r>
            <a:r>
              <a:rPr lang="en-US" err="1"/>
              <a:t>npy</a:t>
            </a:r>
            <a:r>
              <a:rPr lang="en-US"/>
              <a:t> format under the </a:t>
            </a:r>
            <a:r>
              <a:rPr lang="en-US" err="1"/>
              <a:t>landmark_voxel</a:t>
            </a:r>
            <a:r>
              <a:rPr lang="en-US"/>
              <a:t>/ directory. The spacing itself is also stored for future reference as a separate .</a:t>
            </a:r>
            <a:r>
              <a:rPr lang="en-US" err="1"/>
              <a:t>npy</a:t>
            </a:r>
            <a:r>
              <a:rPr lang="en-US"/>
              <a:t> file.</a:t>
            </a:r>
          </a:p>
          <a:p>
            <a:r>
              <a:rPr lang="en-US"/>
              <a:t>In parallel, we handle the </a:t>
            </a:r>
            <a:r>
              <a:rPr lang="en-US" b="1"/>
              <a:t>image conversion</a:t>
            </a:r>
            <a:r>
              <a:rPr lang="en-US"/>
              <a:t> step. Each volumetric scan in .</a:t>
            </a:r>
            <a:r>
              <a:rPr lang="en-US" err="1"/>
              <a:t>nii.gz</a:t>
            </a:r>
            <a:r>
              <a:rPr lang="en-US"/>
              <a:t> format is re-saved in .</a:t>
            </a:r>
            <a:r>
              <a:rPr lang="en-US" err="1"/>
              <a:t>nrrd</a:t>
            </a:r>
            <a:r>
              <a:rPr lang="en-US"/>
              <a:t> format using ITK. This ensures compatibility with external tools or pipelines that require .</a:t>
            </a:r>
            <a:r>
              <a:rPr lang="en-US" err="1"/>
              <a:t>nrrd</a:t>
            </a:r>
            <a:r>
              <a:rPr lang="en-US"/>
              <a:t> as input. The converted images are stored in the </a:t>
            </a:r>
            <a:r>
              <a:rPr lang="en-US" err="1"/>
              <a:t>immagini_nrrd</a:t>
            </a:r>
            <a:r>
              <a:rPr lang="en-US"/>
              <a:t>/ directory.</a:t>
            </a:r>
          </a:p>
          <a:p>
            <a:r>
              <a:rPr lang="en-US"/>
              <a:t>Overall, this process standardizes both the image format and landmark coordinates, preparing the data for downstream tasks such as training, inference, or visualization in </a:t>
            </a:r>
            <a:r>
              <a:rPr lang="en-US" err="1"/>
              <a:t>voxel</a:t>
            </a:r>
            <a:r>
              <a:rPr lang="en-US"/>
              <a:t> space.</a:t>
            </a:r>
          </a:p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F30FD1-2A9D-0D99-396F-FC53E919F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2FD02A-EEFC-4C9C-9B63-0C01BC043D96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1526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Esempio di come può essere utilizzata la slide di testo.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2FD02A-EEFC-4C9C-9B63-0C01BC043D96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2782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Bisogna</a:t>
            </a:r>
            <a:r>
              <a:rPr lang="it-IT" baseline="0"/>
              <a:t> fare </a:t>
            </a:r>
          </a:p>
          <a:p>
            <a:r>
              <a:rPr lang="en-GB" baseline="0"/>
              <a:t>MONAI 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2FD02A-EEFC-4C9C-9B63-0C01BC043D96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2799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MONAI (Medical Open Network for AI)</a:t>
            </a:r>
            <a:r>
              <a:rPr lang="en-US"/>
              <a:t> is an open-source </a:t>
            </a:r>
            <a:r>
              <a:rPr lang="en-US" err="1"/>
              <a:t>PyTorch</a:t>
            </a:r>
            <a:r>
              <a:rPr lang="en-US"/>
              <a:t>-based framework specifically designed for developing deep learning models in medical imaging. It provides tools for:</a:t>
            </a:r>
          </a:p>
          <a:p>
            <a:r>
              <a:rPr lang="en-US"/>
              <a:t>Loading medical image formats (like .</a:t>
            </a:r>
            <a:r>
              <a:rPr lang="en-US" err="1"/>
              <a:t>nii.gz</a:t>
            </a:r>
            <a:r>
              <a:rPr lang="en-US"/>
              <a:t>)</a:t>
            </a:r>
          </a:p>
          <a:p>
            <a:r>
              <a:rPr lang="en-US"/>
              <a:t>Applying medical-specific transforms (e.g., </a:t>
            </a:r>
            <a:r>
              <a:rPr lang="en-US" err="1"/>
              <a:t>resampling</a:t>
            </a:r>
            <a:r>
              <a:rPr lang="en-US"/>
              <a:t>, intensity normalization)</a:t>
            </a:r>
          </a:p>
          <a:p>
            <a:r>
              <a:rPr lang="en-US"/>
              <a:t>Managing data efficiently with Dataset and </a:t>
            </a:r>
            <a:r>
              <a:rPr lang="en-US" err="1"/>
              <a:t>DataLoader</a:t>
            </a:r>
            <a:r>
              <a:rPr lang="en-US"/>
              <a:t> objects</a:t>
            </a:r>
          </a:p>
          <a:p>
            <a:r>
              <a:rPr lang="en-US"/>
              <a:t>Facilitating patch-based training (especially for 3D data)</a:t>
            </a:r>
          </a:p>
          <a:p>
            <a:r>
              <a:rPr lang="en-US" b="1"/>
              <a:t>💡 In your case, MONAI is being used to:</a:t>
            </a:r>
          </a:p>
          <a:p>
            <a:r>
              <a:rPr lang="en-US" b="1"/>
              <a:t>Load CT images and landmarks</a:t>
            </a:r>
            <a:r>
              <a:rPr lang="en-US"/>
              <a:t> from disk.</a:t>
            </a:r>
          </a:p>
          <a:p>
            <a:r>
              <a:rPr lang="en-US" b="1"/>
              <a:t>Apply preprocessing transforms</a:t>
            </a:r>
            <a:r>
              <a:rPr lang="en-US"/>
              <a:t>, like:</a:t>
            </a:r>
          </a:p>
          <a:p>
            <a:pPr lvl="1"/>
            <a:r>
              <a:rPr lang="en-US" err="1"/>
              <a:t>Resampling</a:t>
            </a:r>
            <a:r>
              <a:rPr lang="en-US"/>
              <a:t> to isotropic </a:t>
            </a:r>
            <a:r>
              <a:rPr lang="en-US" err="1"/>
              <a:t>voxel</a:t>
            </a:r>
            <a:r>
              <a:rPr lang="en-US"/>
              <a:t> size (1 mm)</a:t>
            </a:r>
          </a:p>
          <a:p>
            <a:pPr lvl="1"/>
            <a:r>
              <a:rPr lang="en-US"/>
              <a:t>Normalizing intensities (if needed)</a:t>
            </a:r>
          </a:p>
          <a:p>
            <a:r>
              <a:rPr lang="en-US" b="1"/>
              <a:t>Extract 3D patches</a:t>
            </a:r>
            <a:r>
              <a:rPr lang="en-US"/>
              <a:t> of size 128×128×64 from the full volumes.</a:t>
            </a:r>
          </a:p>
          <a:p>
            <a:r>
              <a:rPr lang="en-US" b="1"/>
              <a:t>Generate proposals</a:t>
            </a:r>
            <a:r>
              <a:rPr lang="en-US"/>
              <a:t> (i.e., candidate landmark positions) from ground-truth IJK coordinates, within each patch.</a:t>
            </a:r>
          </a:p>
          <a:p>
            <a:r>
              <a:rPr lang="en-US" b="1"/>
              <a:t>Wrap all of this into standardized Dataset and </a:t>
            </a:r>
            <a:r>
              <a:rPr lang="en-US" b="1" err="1"/>
              <a:t>DataLoader</a:t>
            </a:r>
            <a:r>
              <a:rPr lang="en-US" b="1"/>
              <a:t> classes</a:t>
            </a:r>
            <a:r>
              <a:rPr lang="en-US"/>
              <a:t>, enabling clean and efficient use during training/validation.</a:t>
            </a:r>
          </a:p>
          <a:p>
            <a:r>
              <a:rPr lang="en-US"/>
              <a:t>Additionally, you implemented </a:t>
            </a:r>
            <a:r>
              <a:rPr lang="en-US" b="1"/>
              <a:t>debug hooks</a:t>
            </a:r>
            <a:r>
              <a:rPr lang="en-US"/>
              <a:t> into the pipeline that:</a:t>
            </a:r>
          </a:p>
          <a:p>
            <a:r>
              <a:rPr lang="en-US"/>
              <a:t>Save intermediate outputs (patches and proposals)</a:t>
            </a:r>
          </a:p>
          <a:p>
            <a:r>
              <a:rPr lang="en-US"/>
              <a:t>Allow visual or qualitative inspection</a:t>
            </a:r>
          </a:p>
          <a:p>
            <a:r>
              <a:rPr lang="en-US"/>
              <a:t>Compare ground-truth vs. model predictions</a:t>
            </a:r>
          </a:p>
          <a:p>
            <a:r>
              <a:rPr lang="en-US"/>
              <a:t>This helps in verifying that the data fed into the model is accurate and meaningful.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2FD02A-EEFC-4C9C-9B63-0C01BC043D96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6047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2FD02A-EEFC-4C9C-9B63-0C01BC043D9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255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2FD02A-EEFC-4C9C-9B63-0C01BC043D9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1059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bl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4D627ED4-56F1-5146-BB2C-208E005AFB2F}"/>
              </a:ext>
            </a:extLst>
          </p:cNvPr>
          <p:cNvCxnSpPr>
            <a:cxnSpLocks/>
          </p:cNvCxnSpPr>
          <p:nvPr userDrawn="1"/>
        </p:nvCxnSpPr>
        <p:spPr>
          <a:xfrm>
            <a:off x="479425" y="6392508"/>
            <a:ext cx="1123464" cy="0"/>
          </a:xfrm>
          <a:prstGeom prst="line">
            <a:avLst/>
          </a:prstGeom>
          <a:noFill/>
          <a:ln w="25400" cap="flat" cmpd="sng" algn="ctr">
            <a:solidFill>
              <a:srgbClr val="D51725"/>
            </a:solidFill>
            <a:prstDash val="solid"/>
          </a:ln>
          <a:effectLst/>
        </p:spPr>
      </p:cxnSp>
      <p:pic>
        <p:nvPicPr>
          <p:cNvPr id="18" name="Immagine 17">
            <a:extLst>
              <a:ext uri="{FF2B5EF4-FFF2-40B4-BE49-F238E27FC236}">
                <a16:creationId xmlns:a16="http://schemas.microsoft.com/office/drawing/2014/main" id="{FF06B57D-40E4-DA41-A6A1-A6EBC2F4BF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6477" y="5668614"/>
            <a:ext cx="1855340" cy="702378"/>
          </a:xfrm>
          <a:prstGeom prst="rect">
            <a:avLst/>
          </a:prstGeom>
        </p:spPr>
      </p:pic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E3BAEFEF-E3A3-4A45-968C-13C9087C8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977" y="395098"/>
            <a:ext cx="5037138" cy="955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Corso di Laurea </a:t>
            </a:r>
            <a:r>
              <a:rPr lang="it-IT" err="1"/>
              <a:t>ecc</a:t>
            </a:r>
            <a:endParaRPr lang="it-IT"/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9FCD7654-B6AA-4C48-A4AE-FA5A32F60C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02469" y="395098"/>
            <a:ext cx="5037138" cy="955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Titolo lezione o nome docente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EF4981FE-9856-3443-8848-3F38B32B07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2377572"/>
            <a:ext cx="11233150" cy="218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  <p:sp>
        <p:nvSpPr>
          <p:cNvPr id="7" name="Segnaposto numero diapositiva 4">
            <a:extLst>
              <a:ext uri="{FF2B5EF4-FFF2-40B4-BE49-F238E27FC236}">
                <a16:creationId xmlns:a16="http://schemas.microsoft.com/office/drawing/2014/main" id="{ABEB6A20-B985-7246-917C-83AAC9D04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0385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Ross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4D627ED4-56F1-5146-BB2C-208E005AFB2F}"/>
              </a:ext>
            </a:extLst>
          </p:cNvPr>
          <p:cNvCxnSpPr>
            <a:cxnSpLocks/>
          </p:cNvCxnSpPr>
          <p:nvPr userDrawn="1"/>
        </p:nvCxnSpPr>
        <p:spPr>
          <a:xfrm>
            <a:off x="479425" y="6381750"/>
            <a:ext cx="1123464" cy="0"/>
          </a:xfrm>
          <a:prstGeom prst="line">
            <a:avLst/>
          </a:prstGeom>
          <a:noFill/>
          <a:ln w="25400" cap="flat" cmpd="sng" algn="ctr">
            <a:solidFill>
              <a:schemeClr val="accent4"/>
            </a:solidFill>
            <a:prstDash val="solid"/>
          </a:ln>
          <a:effectLst/>
        </p:spPr>
      </p:cxnSp>
      <p:pic>
        <p:nvPicPr>
          <p:cNvPr id="18" name="Immagine 17">
            <a:extLst>
              <a:ext uri="{FF2B5EF4-FFF2-40B4-BE49-F238E27FC236}">
                <a16:creationId xmlns:a16="http://schemas.microsoft.com/office/drawing/2014/main" id="{FF06B57D-40E4-DA41-A6A1-A6EBC2F4BF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6477" y="5668614"/>
            <a:ext cx="1855340" cy="702378"/>
          </a:xfrm>
          <a:prstGeom prst="rect">
            <a:avLst/>
          </a:prstGeom>
        </p:spPr>
      </p:pic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0103298C-D6BD-9D4D-ACD1-41954E753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2377572"/>
            <a:ext cx="11233150" cy="218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EF0B3132-5A56-A146-A4C2-9E3F6CDD8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977" y="395098"/>
            <a:ext cx="5037138" cy="955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Corso di Laurea </a:t>
            </a:r>
            <a:r>
              <a:rPr lang="it-IT" err="1"/>
              <a:t>ecc</a:t>
            </a:r>
            <a:endParaRPr lang="it-IT"/>
          </a:p>
        </p:txBody>
      </p:sp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AF55C21D-0234-3E47-A59E-F92FCF9DFE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02469" y="395098"/>
            <a:ext cx="5037138" cy="955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Titolo lezione o nome docente</a:t>
            </a:r>
          </a:p>
        </p:txBody>
      </p:sp>
      <p:sp>
        <p:nvSpPr>
          <p:cNvPr id="8" name="Segnaposto numero diapositiva 4">
            <a:extLst>
              <a:ext uri="{FF2B5EF4-FFF2-40B4-BE49-F238E27FC236}">
                <a16:creationId xmlns:a16="http://schemas.microsoft.com/office/drawing/2014/main" id="{EDFEB14F-CB44-3C4D-AB71-6529F1116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211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Giall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4D627ED4-56F1-5146-BB2C-208E005AFB2F}"/>
              </a:ext>
            </a:extLst>
          </p:cNvPr>
          <p:cNvCxnSpPr>
            <a:cxnSpLocks/>
          </p:cNvCxnSpPr>
          <p:nvPr userDrawn="1"/>
        </p:nvCxnSpPr>
        <p:spPr>
          <a:xfrm>
            <a:off x="479425" y="6381750"/>
            <a:ext cx="1123464" cy="0"/>
          </a:xfrm>
          <a:prstGeom prst="line">
            <a:avLst/>
          </a:prstGeom>
          <a:noFill/>
          <a:ln w="25400" cap="flat" cmpd="sng" algn="ctr">
            <a:solidFill>
              <a:schemeClr val="accent1"/>
            </a:solidFill>
            <a:prstDash val="solid"/>
          </a:ln>
          <a:effectLst/>
        </p:spPr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0103298C-D6BD-9D4D-ACD1-41954E753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2377572"/>
            <a:ext cx="11233150" cy="218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36DFEE4-FC38-1846-8B65-23D2240469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0968" y="5669428"/>
            <a:ext cx="1881607" cy="712322"/>
          </a:xfrm>
          <a:prstGeom prst="rect">
            <a:avLst/>
          </a:prstGeom>
        </p:spPr>
      </p:pic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2D62D549-3B77-6543-AFE2-345B3E887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977" y="395098"/>
            <a:ext cx="5037138" cy="955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Corso di Laurea </a:t>
            </a:r>
            <a:r>
              <a:rPr lang="it-IT" err="1"/>
              <a:t>ecc</a:t>
            </a:r>
            <a:endParaRPr lang="it-IT"/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AC4C6DF8-BF4C-2E4F-8231-3C53566D5E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02469" y="395098"/>
            <a:ext cx="5037138" cy="955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Titolo lezione o nome docente</a:t>
            </a:r>
          </a:p>
        </p:txBody>
      </p:sp>
      <p:sp>
        <p:nvSpPr>
          <p:cNvPr id="8" name="Segnaposto numero diapositiva 4">
            <a:extLst>
              <a:ext uri="{FF2B5EF4-FFF2-40B4-BE49-F238E27FC236}">
                <a16:creationId xmlns:a16="http://schemas.microsoft.com/office/drawing/2014/main" id="{228F519E-A06D-414B-9C1A-39D8CC62F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263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EABC6317-FB97-F241-9BAB-C319F501D590}"/>
              </a:ext>
            </a:extLst>
          </p:cNvPr>
          <p:cNvCxnSpPr>
            <a:cxnSpLocks/>
          </p:cNvCxnSpPr>
          <p:nvPr userDrawn="1"/>
        </p:nvCxnSpPr>
        <p:spPr>
          <a:xfrm>
            <a:off x="479425" y="489473"/>
            <a:ext cx="1123464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/>
        </p:spPr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E9B3D343-2D03-2245-BC96-C7E4C17B2F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6477" y="5668614"/>
            <a:ext cx="1855340" cy="702378"/>
          </a:xfrm>
          <a:prstGeom prst="rect">
            <a:avLst/>
          </a:prstGeom>
          <a:effectLst/>
        </p:spPr>
      </p:pic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53B715DF-2E07-D74A-A1D3-346372879D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413" y="1774825"/>
            <a:ext cx="11360404" cy="3398838"/>
          </a:xfrm>
          <a:prstGeom prst="rect">
            <a:avLst/>
          </a:prstGeom>
          <a:effectLst/>
        </p:spPr>
        <p:txBody>
          <a:bodyPr anchor="ctr"/>
          <a:lstStyle>
            <a:lvl1pPr marL="0" indent="0">
              <a:buNone/>
              <a:defRPr sz="60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Fare clic per</a:t>
            </a:r>
            <a:br>
              <a:rPr lang="it-IT"/>
            </a:br>
            <a:r>
              <a:rPr lang="it-IT"/>
              <a:t>inserire il titolo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FC92D9D0-6CBF-BA46-BDBF-C57A0453D6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04" y="5378824"/>
            <a:ext cx="4393792" cy="1121380"/>
          </a:xfrm>
          <a:prstGeom prst="rect">
            <a:avLst/>
          </a:prstGeom>
          <a:effectLst/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sottotitolo</a:t>
            </a:r>
          </a:p>
        </p:txBody>
      </p:sp>
      <p:sp>
        <p:nvSpPr>
          <p:cNvPr id="6" name="Segnaposto numero diapositiva 4">
            <a:extLst>
              <a:ext uri="{FF2B5EF4-FFF2-40B4-BE49-F238E27FC236}">
                <a16:creationId xmlns:a16="http://schemas.microsoft.com/office/drawing/2014/main" id="{E3754BDE-F2D6-1C4A-B28E-72F823199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012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ross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EABC6317-FB97-F241-9BAB-C319F501D590}"/>
              </a:ext>
            </a:extLst>
          </p:cNvPr>
          <p:cNvCxnSpPr>
            <a:cxnSpLocks/>
          </p:cNvCxnSpPr>
          <p:nvPr userDrawn="1"/>
        </p:nvCxnSpPr>
        <p:spPr>
          <a:xfrm>
            <a:off x="479425" y="489473"/>
            <a:ext cx="1123464" cy="0"/>
          </a:xfrm>
          <a:prstGeom prst="line">
            <a:avLst/>
          </a:prstGeom>
          <a:noFill/>
          <a:ln w="25400" cap="flat" cmpd="sng" algn="ctr">
            <a:solidFill>
              <a:schemeClr val="accent4"/>
            </a:solidFill>
            <a:prstDash val="solid"/>
          </a:ln>
          <a:effectLst/>
        </p:spPr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E9B3D343-2D03-2245-BC96-C7E4C17B2F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6477" y="5668614"/>
            <a:ext cx="1855340" cy="702378"/>
          </a:xfrm>
          <a:prstGeom prst="rect">
            <a:avLst/>
          </a:prstGeom>
          <a:effectLst/>
        </p:spPr>
      </p:pic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53B715DF-2E07-D74A-A1D3-346372879D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618" y="1774825"/>
            <a:ext cx="11364957" cy="3398838"/>
          </a:xfrm>
          <a:prstGeom prst="rect">
            <a:avLst/>
          </a:prstGeom>
          <a:effectLst/>
        </p:spPr>
        <p:txBody>
          <a:bodyPr anchor="ctr"/>
          <a:lstStyle>
            <a:lvl1pPr marL="0" indent="0">
              <a:buNone/>
              <a:defRPr sz="60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Fare clic per</a:t>
            </a:r>
            <a:br>
              <a:rPr lang="it-IT"/>
            </a:br>
            <a:r>
              <a:rPr lang="it-IT"/>
              <a:t>inserire il titolo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5577A286-0E70-4B47-8945-5432396CF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E87E0317-C647-3747-8FF2-3D11ACA1F3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04" y="5378824"/>
            <a:ext cx="4393792" cy="1121380"/>
          </a:xfrm>
          <a:prstGeom prst="rect">
            <a:avLst/>
          </a:prstGeom>
          <a:effectLst/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sottotitolo</a:t>
            </a:r>
          </a:p>
        </p:txBody>
      </p:sp>
    </p:spTree>
    <p:extLst>
      <p:ext uri="{BB962C8B-B14F-4D97-AF65-F5344CB8AC3E}">
        <p14:creationId xmlns:p14="http://schemas.microsoft.com/office/powerpoint/2010/main" val="418161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iall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EABC6317-FB97-F241-9BAB-C319F501D590}"/>
              </a:ext>
            </a:extLst>
          </p:cNvPr>
          <p:cNvCxnSpPr>
            <a:cxnSpLocks/>
          </p:cNvCxnSpPr>
          <p:nvPr userDrawn="1"/>
        </p:nvCxnSpPr>
        <p:spPr>
          <a:xfrm>
            <a:off x="479425" y="489473"/>
            <a:ext cx="1123464" cy="0"/>
          </a:xfrm>
          <a:prstGeom prst="line">
            <a:avLst/>
          </a:prstGeom>
          <a:noFill/>
          <a:ln w="25400" cap="flat" cmpd="sng" algn="ctr">
            <a:solidFill>
              <a:schemeClr val="accent1"/>
            </a:solidFill>
            <a:prstDash val="solid"/>
          </a:ln>
          <a:effectLst/>
        </p:spPr>
      </p:cxn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53B715DF-2E07-D74A-A1D3-346372879D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9379" y="1774825"/>
            <a:ext cx="11373196" cy="3398838"/>
          </a:xfrm>
          <a:prstGeom prst="rect">
            <a:avLst/>
          </a:prstGeom>
          <a:effectLst/>
        </p:spPr>
        <p:txBody>
          <a:bodyPr anchor="ctr"/>
          <a:lstStyle>
            <a:lvl1pPr marL="0" indent="0">
              <a:buNone/>
              <a:defRPr sz="60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Fare clic per</a:t>
            </a:r>
            <a:br>
              <a:rPr lang="it-IT"/>
            </a:br>
            <a:r>
              <a:rPr lang="it-IT"/>
              <a:t>inserire il titolo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763CAC76-BE80-5742-BBA2-C8C6E1B20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8960113-D84E-CB47-AA30-EEB426A516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0968" y="5669428"/>
            <a:ext cx="1881607" cy="712322"/>
          </a:xfrm>
          <a:prstGeom prst="rect">
            <a:avLst/>
          </a:prstGeom>
        </p:spPr>
      </p:pic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B5936F1F-C5EE-494A-8F85-FE6817FF24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04" y="5378824"/>
            <a:ext cx="4393792" cy="1121380"/>
          </a:xfrm>
          <a:prstGeom prst="rect">
            <a:avLst/>
          </a:prstGeom>
          <a:effectLst/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sottotitolo</a:t>
            </a:r>
          </a:p>
        </p:txBody>
      </p:sp>
    </p:spTree>
    <p:extLst>
      <p:ext uri="{BB962C8B-B14F-4D97-AF65-F5344CB8AC3E}">
        <p14:creationId xmlns:p14="http://schemas.microsoft.com/office/powerpoint/2010/main" val="356851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sfon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EF4981FE-9856-3443-8848-3F38B32B07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2377572"/>
            <a:ext cx="11233150" cy="2184400"/>
          </a:xfrm>
          <a:prstGeom prst="rect">
            <a:avLst/>
          </a:prstGeom>
          <a:effectLst>
            <a:outerShdw blurRad="762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44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  <p:sp>
        <p:nvSpPr>
          <p:cNvPr id="7" name="Segnaposto numero diapositiva 4">
            <a:extLst>
              <a:ext uri="{FF2B5EF4-FFF2-40B4-BE49-F238E27FC236}">
                <a16:creationId xmlns:a16="http://schemas.microsoft.com/office/drawing/2014/main" id="{ABEB6A20-B985-7246-917C-83AAC9D04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  <a:effectLst>
            <a:outerShdw blurRad="762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7651F7F-F97D-B44A-9972-76CA96C03C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7700" y="476250"/>
            <a:ext cx="904875" cy="360711"/>
          </a:xfrm>
          <a:prstGeom prst="rect">
            <a:avLst/>
          </a:prstGeom>
          <a:effectLst>
            <a:outerShdw blurRad="76200" dist="127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5799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da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DFEB7C8-C102-6E42-933C-E295820B52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4" name="Segnaposto testo 9">
            <a:extLst>
              <a:ext uri="{FF2B5EF4-FFF2-40B4-BE49-F238E27FC236}">
                <a16:creationId xmlns:a16="http://schemas.microsoft.com/office/drawing/2014/main" id="{C2C64C68-53A1-4348-A79B-F7C920285A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5186" y="1774825"/>
            <a:ext cx="6658311" cy="3398838"/>
          </a:xfrm>
          <a:prstGeom prst="rect">
            <a:avLst/>
          </a:prstGeom>
          <a:effectLst/>
        </p:spPr>
        <p:txBody>
          <a:bodyPr anchor="ctr"/>
          <a:lstStyle>
            <a:lvl1pPr marL="0" indent="0" algn="r">
              <a:buNone/>
              <a:defRPr sz="6000" b="1">
                <a:solidFill>
                  <a:schemeClr val="accent4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Fare clic per</a:t>
            </a:r>
            <a:br>
              <a:rPr lang="it-IT"/>
            </a:br>
            <a:r>
              <a:rPr lang="it-IT"/>
              <a:t>inserire il titolo</a:t>
            </a:r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FF314090-33BE-1E4A-AEAF-5A4E50DEEA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03" y="1431781"/>
            <a:ext cx="4565915" cy="58539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sottotitolo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175BAC6-1470-C44C-8E59-55F31AAFD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603" y="3727974"/>
            <a:ext cx="4565915" cy="58539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sottotitolo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CBC7A056-25F8-6444-A57E-61E4E21B0C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603" y="301217"/>
            <a:ext cx="4565915" cy="1109047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6000" b="1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XX%</a:t>
            </a:r>
          </a:p>
        </p:txBody>
      </p:sp>
      <p:sp>
        <p:nvSpPr>
          <p:cNvPr id="10" name="Segnaposto testo 6">
            <a:extLst>
              <a:ext uri="{FF2B5EF4-FFF2-40B4-BE49-F238E27FC236}">
                <a16:creationId xmlns:a16="http://schemas.microsoft.com/office/drawing/2014/main" id="{86F6F65A-55E0-F549-B098-F61B0FFC38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2603" y="2560320"/>
            <a:ext cx="4565915" cy="114613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6000" b="1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XX%</a:t>
            </a:r>
          </a:p>
        </p:txBody>
      </p:sp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22F677EC-AD44-C847-A000-C6BB151C1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866FA79-50B4-134C-9CBC-B1B25C0790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603" y="6019349"/>
            <a:ext cx="4565915" cy="58539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sottotitolo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15C157FD-792C-CA4F-9DC9-C4D9910FF6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2603" y="4851695"/>
            <a:ext cx="4565915" cy="1146138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6000" b="1"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74182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67FB05B-9926-8C4C-947A-9405F2D52362}"/>
              </a:ext>
            </a:extLst>
          </p:cNvPr>
          <p:cNvSpPr/>
          <p:nvPr userDrawn="1"/>
        </p:nvSpPr>
        <p:spPr>
          <a:xfrm>
            <a:off x="8243944" y="0"/>
            <a:ext cx="394805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testo 11">
            <a:extLst>
              <a:ext uri="{FF2B5EF4-FFF2-40B4-BE49-F238E27FC236}">
                <a16:creationId xmlns:a16="http://schemas.microsoft.com/office/drawing/2014/main" id="{B03F77C0-940C-A64C-AC5D-87F2178A8C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3821" y="1895115"/>
            <a:ext cx="5722937" cy="4486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8" name="Segnaposto numero diapositiva 4">
            <a:extLst>
              <a:ext uri="{FF2B5EF4-FFF2-40B4-BE49-F238E27FC236}">
                <a16:creationId xmlns:a16="http://schemas.microsoft.com/office/drawing/2014/main" id="{3E4B0473-ED3E-B04A-8AB1-0EC39433A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1BE9EA5-DD34-214B-A3F4-838F212B46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7700" y="476250"/>
            <a:ext cx="904875" cy="360711"/>
          </a:xfrm>
          <a:prstGeom prst="rect">
            <a:avLst/>
          </a:prstGeom>
        </p:spPr>
      </p:pic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43196FE4-6DCF-B448-966C-A6B89388B5F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16130" y="1963383"/>
            <a:ext cx="5196445" cy="3998913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67BB9B59-C91C-7B4A-AFF7-1C968BD736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6264" y="6051988"/>
            <a:ext cx="4044875" cy="47790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it-IT"/>
              <a:t>Didascalia immagine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37365367-627C-3144-922D-54C1F667A3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821" y="411701"/>
            <a:ext cx="7286381" cy="119118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76156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cupol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FF28063D-00A6-FB43-AAEE-04F50D39F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280557" y="484188"/>
            <a:ext cx="6004790" cy="5897562"/>
          </a:xfrm>
          <a:prstGeom prst="rect">
            <a:avLst/>
          </a:prstGeom>
        </p:spPr>
      </p:pic>
      <p:sp>
        <p:nvSpPr>
          <p:cNvPr id="10" name="Segnaposto testo 11">
            <a:extLst>
              <a:ext uri="{FF2B5EF4-FFF2-40B4-BE49-F238E27FC236}">
                <a16:creationId xmlns:a16="http://schemas.microsoft.com/office/drawing/2014/main" id="{F0CA595F-A71F-9C45-ADDF-0A4B33D8AD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45984" y="1898836"/>
            <a:ext cx="7666591" cy="44829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6" name="Segnaposto numero diapositiva 4">
            <a:extLst>
              <a:ext uri="{FF2B5EF4-FFF2-40B4-BE49-F238E27FC236}">
                <a16:creationId xmlns:a16="http://schemas.microsoft.com/office/drawing/2014/main" id="{23C3D335-62DB-3F4D-A5AD-878C87963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574D454-D571-804B-932B-CC0B865F99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8E9FB858-57CF-BD46-8BF4-3A6AB6028B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28184" y="411701"/>
            <a:ext cx="7962490" cy="1191187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2563789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immagine fondo ne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17FEA1A1-040D-AC47-9B16-84C0134820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361" y="411702"/>
            <a:ext cx="9708070" cy="112721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Slide fondo nero per immagini mediche</a:t>
            </a:r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5B94CA0D-AD4E-5940-BE8C-FAB447DF03BD}"/>
              </a:ext>
            </a:extLst>
          </p:cNvPr>
          <p:cNvCxnSpPr>
            <a:cxnSpLocks/>
          </p:cNvCxnSpPr>
          <p:nvPr userDrawn="1"/>
        </p:nvCxnSpPr>
        <p:spPr>
          <a:xfrm>
            <a:off x="479425" y="6381750"/>
            <a:ext cx="8965789" cy="0"/>
          </a:xfrm>
          <a:prstGeom prst="line">
            <a:avLst/>
          </a:prstGeom>
          <a:noFill/>
          <a:ln w="25400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0968140-49E3-1342-A4FF-D4EE5E67690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9425" y="1952625"/>
            <a:ext cx="11233150" cy="401542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7BA17C2-C267-3D48-98C8-B7E5C916EC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7700" y="476250"/>
            <a:ext cx="904875" cy="360711"/>
          </a:xfrm>
          <a:prstGeom prst="rect">
            <a:avLst/>
          </a:prstGeom>
        </p:spPr>
      </p:pic>
      <p:sp>
        <p:nvSpPr>
          <p:cNvPr id="11" name="Segnaposto numero diapositiva 4">
            <a:extLst>
              <a:ext uri="{FF2B5EF4-FFF2-40B4-BE49-F238E27FC236}">
                <a16:creationId xmlns:a16="http://schemas.microsoft.com/office/drawing/2014/main" id="{3760AC94-81FF-0A48-8D7E-DB354E211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A2760B1A-1AE2-C14A-9426-8D97FF47CE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6264" y="6051988"/>
            <a:ext cx="4044875" cy="47790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it-IT"/>
              <a:t>Didascalia immagine</a:t>
            </a:r>
          </a:p>
        </p:txBody>
      </p:sp>
    </p:spTree>
    <p:extLst>
      <p:ext uri="{BB962C8B-B14F-4D97-AF65-F5344CB8AC3E}">
        <p14:creationId xmlns:p14="http://schemas.microsoft.com/office/powerpoint/2010/main" val="2537728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fo Ros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67FB05B-9926-8C4C-947A-9405F2D52362}"/>
              </a:ext>
            </a:extLst>
          </p:cNvPr>
          <p:cNvSpPr/>
          <p:nvPr userDrawn="1"/>
        </p:nvSpPr>
        <p:spPr>
          <a:xfrm>
            <a:off x="0" y="0"/>
            <a:ext cx="394805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77A24E2E-AE95-EC48-B6CF-F81F882E09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6204" y="1944445"/>
            <a:ext cx="2992456" cy="3012141"/>
          </a:xfrm>
          <a:prstGeom prst="rect">
            <a:avLst/>
          </a:prstGeom>
          <a:effectLst/>
        </p:spPr>
        <p:txBody>
          <a:bodyPr anchor="ctr"/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Fare clic per</a:t>
            </a:r>
            <a:br>
              <a:rPr lang="it-IT"/>
            </a:br>
            <a:r>
              <a:rPr lang="it-IT"/>
              <a:t>inserire il titolo</a:t>
            </a:r>
          </a:p>
        </p:txBody>
      </p:sp>
      <p:sp>
        <p:nvSpPr>
          <p:cNvPr id="11" name="Segnaposto testo 11">
            <a:extLst>
              <a:ext uri="{FF2B5EF4-FFF2-40B4-BE49-F238E27FC236}">
                <a16:creationId xmlns:a16="http://schemas.microsoft.com/office/drawing/2014/main" id="{220F64FC-0FB5-4B45-BB85-8CFF8CF85B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4260" y="1775008"/>
            <a:ext cx="7368316" cy="335638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EA7791E6-27FE-2941-9A08-02DC56C502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977" y="395098"/>
            <a:ext cx="3001682" cy="955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Sezione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14" name="Segnaposto testo 7">
            <a:extLst>
              <a:ext uri="{FF2B5EF4-FFF2-40B4-BE49-F238E27FC236}">
                <a16:creationId xmlns:a16="http://schemas.microsoft.com/office/drawing/2014/main" id="{BA1F8537-BD96-294F-81F9-5C0EC055EB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977" y="5565735"/>
            <a:ext cx="3001682" cy="9556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Ulteriori</a:t>
            </a:r>
            <a:br>
              <a:rPr lang="it-IT"/>
            </a:br>
            <a:r>
              <a:rPr lang="it-IT"/>
              <a:t>Informazioni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3933C03-DC3F-C042-8F68-1485DF5F1C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10" name="Segnaposto numero diapositiva 4">
            <a:extLst>
              <a:ext uri="{FF2B5EF4-FFF2-40B4-BE49-F238E27FC236}">
                <a16:creationId xmlns:a16="http://schemas.microsoft.com/office/drawing/2014/main" id="{47403840-ED71-C840-BF84-D392D7E59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886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fo B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67FB05B-9926-8C4C-947A-9405F2D52362}"/>
              </a:ext>
            </a:extLst>
          </p:cNvPr>
          <p:cNvSpPr/>
          <p:nvPr userDrawn="1"/>
        </p:nvSpPr>
        <p:spPr>
          <a:xfrm>
            <a:off x="0" y="0"/>
            <a:ext cx="394805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77A24E2E-AE95-EC48-B6CF-F81F882E09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6204" y="1944445"/>
            <a:ext cx="2992456" cy="3012141"/>
          </a:xfrm>
          <a:prstGeom prst="rect">
            <a:avLst/>
          </a:prstGeom>
          <a:effectLst/>
        </p:spPr>
        <p:txBody>
          <a:bodyPr anchor="ctr"/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Fare clic per</a:t>
            </a:r>
            <a:br>
              <a:rPr lang="it-IT"/>
            </a:br>
            <a:r>
              <a:rPr lang="it-IT"/>
              <a:t>inserire il titolo</a:t>
            </a:r>
          </a:p>
        </p:txBody>
      </p:sp>
      <p:sp>
        <p:nvSpPr>
          <p:cNvPr id="11" name="Segnaposto testo 11">
            <a:extLst>
              <a:ext uri="{FF2B5EF4-FFF2-40B4-BE49-F238E27FC236}">
                <a16:creationId xmlns:a16="http://schemas.microsoft.com/office/drawing/2014/main" id="{220F64FC-0FB5-4B45-BB85-8CFF8CF85B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4260" y="1775008"/>
            <a:ext cx="7368316" cy="335638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EA7791E6-27FE-2941-9A08-02DC56C502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977" y="395098"/>
            <a:ext cx="3001682" cy="955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Sezione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CA33781B-8F47-0443-9606-643A2B0B4E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977" y="5565735"/>
            <a:ext cx="3001682" cy="9556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Ulteriori</a:t>
            </a:r>
            <a:br>
              <a:rPr lang="it-IT"/>
            </a:br>
            <a:r>
              <a:rPr lang="it-IT"/>
              <a:t>Informazioni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7F81D1C-E55A-D348-BD21-C5E0383909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10" name="Segnaposto numero diapositiva 4">
            <a:extLst>
              <a:ext uri="{FF2B5EF4-FFF2-40B4-BE49-F238E27FC236}">
                <a16:creationId xmlns:a16="http://schemas.microsoft.com/office/drawing/2014/main" id="{AD5F9576-8C49-FC43-A7E1-92E989540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6284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fo Gia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67FB05B-9926-8C4C-947A-9405F2D52362}"/>
              </a:ext>
            </a:extLst>
          </p:cNvPr>
          <p:cNvSpPr/>
          <p:nvPr userDrawn="1"/>
        </p:nvSpPr>
        <p:spPr>
          <a:xfrm>
            <a:off x="0" y="0"/>
            <a:ext cx="3948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77A24E2E-AE95-EC48-B6CF-F81F882E09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6204" y="1944445"/>
            <a:ext cx="2992456" cy="3012141"/>
          </a:xfrm>
          <a:prstGeom prst="rect">
            <a:avLst/>
          </a:prstGeom>
          <a:effectLst/>
        </p:spPr>
        <p:txBody>
          <a:bodyPr anchor="ctr"/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Fare clic per</a:t>
            </a:r>
            <a:br>
              <a:rPr lang="it-IT"/>
            </a:br>
            <a:r>
              <a:rPr lang="it-IT"/>
              <a:t>inserire il titolo</a:t>
            </a:r>
          </a:p>
        </p:txBody>
      </p:sp>
      <p:sp>
        <p:nvSpPr>
          <p:cNvPr id="11" name="Segnaposto testo 11">
            <a:extLst>
              <a:ext uri="{FF2B5EF4-FFF2-40B4-BE49-F238E27FC236}">
                <a16:creationId xmlns:a16="http://schemas.microsoft.com/office/drawing/2014/main" id="{220F64FC-0FB5-4B45-BB85-8CFF8CF85B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4260" y="1775008"/>
            <a:ext cx="7368316" cy="335638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EA7791E6-27FE-2941-9A08-02DC56C502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977" y="395098"/>
            <a:ext cx="3001682" cy="955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Sezione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6C45D5-9011-CC43-8D26-7C7D951CB3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977" y="5565735"/>
            <a:ext cx="3001682" cy="9556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Ulteriori</a:t>
            </a:r>
            <a:br>
              <a:rPr lang="it-IT"/>
            </a:br>
            <a:r>
              <a:rPr lang="it-IT"/>
              <a:t>Informazioni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26E033B-2C08-C243-A317-116E31E42A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13" name="Segnaposto numero diapositiva 4">
            <a:extLst>
              <a:ext uri="{FF2B5EF4-FFF2-40B4-BE49-F238E27FC236}">
                <a16:creationId xmlns:a16="http://schemas.microsoft.com/office/drawing/2014/main" id="{DC52C696-E30A-3043-8995-D4D4ED18A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9923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fo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testo 11">
            <a:extLst>
              <a:ext uri="{FF2B5EF4-FFF2-40B4-BE49-F238E27FC236}">
                <a16:creationId xmlns:a16="http://schemas.microsoft.com/office/drawing/2014/main" id="{220F64FC-0FB5-4B45-BB85-8CFF8CF85B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4260" y="1775008"/>
            <a:ext cx="7368316" cy="335638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58249A3E-E9F3-2B45-85C4-E7F8162381B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948113" cy="6858000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7287D56-3E91-EE49-B6D0-FD037572F3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6" name="Segnaposto numero diapositiva 4">
            <a:extLst>
              <a:ext uri="{FF2B5EF4-FFF2-40B4-BE49-F238E27FC236}">
                <a16:creationId xmlns:a16="http://schemas.microsoft.com/office/drawing/2014/main" id="{BC95DE84-D331-3B4A-82C6-F73142D45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8025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17FEA1A1-040D-AC47-9B16-84C0134820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361" y="411702"/>
            <a:ext cx="9923223" cy="84972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FBFEE3CB-FAD8-9749-B414-31C2F95018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3361" y="1884000"/>
            <a:ext cx="11319214" cy="449775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0E07D59-B061-E642-92B4-54B1585EE2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10" name="Segnaposto numero diapositiva 4">
            <a:extLst>
              <a:ext uri="{FF2B5EF4-FFF2-40B4-BE49-F238E27FC236}">
                <a16:creationId xmlns:a16="http://schemas.microsoft.com/office/drawing/2014/main" id="{B06C947D-E3D6-4A45-8701-95D8DC6BB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9DCA04B0-80FC-7546-B281-74F8A8AB4413}"/>
              </a:ext>
            </a:extLst>
          </p:cNvPr>
          <p:cNvCxnSpPr>
            <a:cxnSpLocks/>
          </p:cNvCxnSpPr>
          <p:nvPr userDrawn="1"/>
        </p:nvCxnSpPr>
        <p:spPr>
          <a:xfrm>
            <a:off x="479425" y="1508850"/>
            <a:ext cx="11233150" cy="0"/>
          </a:xfrm>
          <a:prstGeom prst="line">
            <a:avLst/>
          </a:prstGeom>
          <a:noFill/>
          <a:ln w="25400" cap="flat" cmpd="sng" algn="ctr">
            <a:solidFill>
              <a:schemeClr val="accent4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415854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sto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17FEA1A1-040D-AC47-9B16-84C0134820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361" y="411702"/>
            <a:ext cx="9923223" cy="84972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FBFEE3CB-FAD8-9749-B414-31C2F95018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3361" y="1415562"/>
            <a:ext cx="11319214" cy="4966188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0E07D59-B061-E642-92B4-54B1585EE2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10" name="Segnaposto numero diapositiva 4">
            <a:extLst>
              <a:ext uri="{FF2B5EF4-FFF2-40B4-BE49-F238E27FC236}">
                <a16:creationId xmlns:a16="http://schemas.microsoft.com/office/drawing/2014/main" id="{B06C947D-E3D6-4A45-8701-95D8DC6BB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22584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sto -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17FEA1A1-040D-AC47-9B16-84C0134820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361" y="411702"/>
            <a:ext cx="9923223" cy="84972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FBFEE3CB-FAD8-9749-B414-31C2F95018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3361" y="1399144"/>
            <a:ext cx="11319214" cy="481436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0E07D59-B061-E642-92B4-54B1585EE2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10" name="Segnaposto numero diapositiva 4">
            <a:extLst>
              <a:ext uri="{FF2B5EF4-FFF2-40B4-BE49-F238E27FC236}">
                <a16:creationId xmlns:a16="http://schemas.microsoft.com/office/drawing/2014/main" id="{B06C947D-E3D6-4A45-8701-95D8DC6BB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9DCA04B0-80FC-7546-B281-74F8A8AB4413}"/>
              </a:ext>
            </a:extLst>
          </p:cNvPr>
          <p:cNvCxnSpPr>
            <a:cxnSpLocks/>
          </p:cNvCxnSpPr>
          <p:nvPr userDrawn="1"/>
        </p:nvCxnSpPr>
        <p:spPr>
          <a:xfrm>
            <a:off x="479425" y="6381750"/>
            <a:ext cx="11233150" cy="0"/>
          </a:xfrm>
          <a:prstGeom prst="line">
            <a:avLst/>
          </a:prstGeom>
          <a:noFill/>
          <a:ln w="25400" cap="flat" cmpd="sng" algn="ctr">
            <a:solidFill>
              <a:schemeClr val="accent4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698516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sto con più pun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FBFEE3CB-FAD8-9749-B414-31C2F95018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3361" y="1917019"/>
            <a:ext cx="3536088" cy="184375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F9422EB7-FE50-6A46-A629-AF4624AF41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7956" y="1917019"/>
            <a:ext cx="3536088" cy="184375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10" name="Segnaposto testo 11">
            <a:extLst>
              <a:ext uri="{FF2B5EF4-FFF2-40B4-BE49-F238E27FC236}">
                <a16:creationId xmlns:a16="http://schemas.microsoft.com/office/drawing/2014/main" id="{F9F7D2A6-0771-4340-8504-5BE1F66507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5027" y="1917019"/>
            <a:ext cx="3536088" cy="184375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9AD3F197-250A-8742-9183-F8068E50D2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3361" y="4146316"/>
            <a:ext cx="3536088" cy="184375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15" name="Segnaposto testo 11">
            <a:extLst>
              <a:ext uri="{FF2B5EF4-FFF2-40B4-BE49-F238E27FC236}">
                <a16:creationId xmlns:a16="http://schemas.microsoft.com/office/drawing/2014/main" id="{0772B229-DF13-9A42-A53A-67FCAF0FAD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7956" y="4146316"/>
            <a:ext cx="3536088" cy="184375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16" name="Segnaposto testo 11">
            <a:extLst>
              <a:ext uri="{FF2B5EF4-FFF2-40B4-BE49-F238E27FC236}">
                <a16:creationId xmlns:a16="http://schemas.microsoft.com/office/drawing/2014/main" id="{C4A6762F-89EC-B143-B068-5E2F0E6B5A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75027" y="4146316"/>
            <a:ext cx="3536088" cy="184375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47AE59C8-B37A-4848-B84C-A4402F36CC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12" name="Segnaposto numero diapositiva 4">
            <a:extLst>
              <a:ext uri="{FF2B5EF4-FFF2-40B4-BE49-F238E27FC236}">
                <a16:creationId xmlns:a16="http://schemas.microsoft.com/office/drawing/2014/main" id="{54063D45-9988-C54D-A5D2-5BB4C9F1F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C3690B5C-2456-D547-A811-160EE412062C}"/>
              </a:ext>
            </a:extLst>
          </p:cNvPr>
          <p:cNvCxnSpPr>
            <a:cxnSpLocks/>
          </p:cNvCxnSpPr>
          <p:nvPr userDrawn="1"/>
        </p:nvCxnSpPr>
        <p:spPr>
          <a:xfrm>
            <a:off x="479425" y="1508850"/>
            <a:ext cx="11233150" cy="0"/>
          </a:xfrm>
          <a:prstGeom prst="line">
            <a:avLst/>
          </a:prstGeom>
          <a:noFill/>
          <a:ln w="25400" cap="flat" cmpd="sng" algn="ctr">
            <a:solidFill>
              <a:schemeClr val="accent4"/>
            </a:solidFill>
            <a:prstDash val="solid"/>
          </a:ln>
          <a:effectLst/>
        </p:spPr>
      </p:cxnSp>
      <p:sp>
        <p:nvSpPr>
          <p:cNvPr id="17" name="Segnaposto testo 6">
            <a:extLst>
              <a:ext uri="{FF2B5EF4-FFF2-40B4-BE49-F238E27FC236}">
                <a16:creationId xmlns:a16="http://schemas.microsoft.com/office/drawing/2014/main" id="{AE00D448-2969-D445-A677-5CFC4521B2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361" y="411702"/>
            <a:ext cx="9923223" cy="84972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Obiettivi / Agenda</a:t>
            </a:r>
          </a:p>
        </p:txBody>
      </p:sp>
    </p:spTree>
    <p:extLst>
      <p:ext uri="{BB962C8B-B14F-4D97-AF65-F5344CB8AC3E}">
        <p14:creationId xmlns:p14="http://schemas.microsoft.com/office/powerpoint/2010/main" val="41456683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0968140-49E3-1342-A4FF-D4EE5E67690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9425" y="1952625"/>
            <a:ext cx="11233150" cy="3982202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B0F11E1-8296-D948-B7F3-35DBA461B1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10" name="Segnaposto numero diapositiva 4">
            <a:extLst>
              <a:ext uri="{FF2B5EF4-FFF2-40B4-BE49-F238E27FC236}">
                <a16:creationId xmlns:a16="http://schemas.microsoft.com/office/drawing/2014/main" id="{80A1EBAC-FCFA-CF48-B87E-0B941D922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68F6D6DB-595A-3B44-A3DE-3DE8384068B7}"/>
              </a:ext>
            </a:extLst>
          </p:cNvPr>
          <p:cNvCxnSpPr>
            <a:cxnSpLocks/>
          </p:cNvCxnSpPr>
          <p:nvPr userDrawn="1"/>
        </p:nvCxnSpPr>
        <p:spPr>
          <a:xfrm>
            <a:off x="479425" y="1508850"/>
            <a:ext cx="11233150" cy="0"/>
          </a:xfrm>
          <a:prstGeom prst="line">
            <a:avLst/>
          </a:prstGeom>
          <a:noFill/>
          <a:ln w="25400" cap="flat" cmpd="sng" algn="ctr">
            <a:solidFill>
              <a:schemeClr val="accent4"/>
            </a:solidFill>
            <a:prstDash val="solid"/>
          </a:ln>
          <a:effectLst/>
        </p:spPr>
      </p:cxn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D16AACF7-83AB-464B-AEB5-9774239BF4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361" y="411702"/>
            <a:ext cx="9923223" cy="84972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  <p:sp>
        <p:nvSpPr>
          <p:cNvPr id="13" name="Segnaposto testo 8">
            <a:extLst>
              <a:ext uri="{FF2B5EF4-FFF2-40B4-BE49-F238E27FC236}">
                <a16:creationId xmlns:a16="http://schemas.microsoft.com/office/drawing/2014/main" id="{EA5BB48D-5216-C544-8F46-1FC46EF83B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6264" y="6051988"/>
            <a:ext cx="4044875" cy="47790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/>
            </a:lvl1pPr>
          </a:lstStyle>
          <a:p>
            <a:r>
              <a:rPr lang="it-IT"/>
              <a:t>Didascalia immagine</a:t>
            </a:r>
          </a:p>
        </p:txBody>
      </p:sp>
    </p:spTree>
    <p:extLst>
      <p:ext uri="{BB962C8B-B14F-4D97-AF65-F5344CB8AC3E}">
        <p14:creationId xmlns:p14="http://schemas.microsoft.com/office/powerpoint/2010/main" val="18907474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FBFEE3CB-FAD8-9749-B414-31C2F95018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3361" y="1963958"/>
            <a:ext cx="5702639" cy="441779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Inserisci qui il tuo testo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7AF3856-E5C4-744B-8F9B-F2547DB6F90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16130" y="1963383"/>
            <a:ext cx="5196445" cy="3998913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C152714-5CC4-454D-AC93-E3E4842055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6264" y="6051988"/>
            <a:ext cx="4044875" cy="47790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00"/>
            </a:lvl1pPr>
          </a:lstStyle>
          <a:p>
            <a:r>
              <a:rPr lang="it-IT"/>
              <a:t>Didascalia immagine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D977D78-2092-D648-8C1B-8CC3308845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11" name="Segnaposto numero diapositiva 4">
            <a:extLst>
              <a:ext uri="{FF2B5EF4-FFF2-40B4-BE49-F238E27FC236}">
                <a16:creationId xmlns:a16="http://schemas.microsoft.com/office/drawing/2014/main" id="{2156CC30-312C-B845-A3D5-8F487CF4D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A1C6EA8A-2827-E44E-A7EB-FEA6600B7FC2}"/>
              </a:ext>
            </a:extLst>
          </p:cNvPr>
          <p:cNvCxnSpPr>
            <a:cxnSpLocks/>
          </p:cNvCxnSpPr>
          <p:nvPr userDrawn="1"/>
        </p:nvCxnSpPr>
        <p:spPr>
          <a:xfrm>
            <a:off x="479425" y="1508850"/>
            <a:ext cx="11233150" cy="0"/>
          </a:xfrm>
          <a:prstGeom prst="line">
            <a:avLst/>
          </a:prstGeom>
          <a:noFill/>
          <a:ln w="25400" cap="flat" cmpd="sng" algn="ctr">
            <a:solidFill>
              <a:schemeClr val="accent4"/>
            </a:solidFill>
            <a:prstDash val="solid"/>
          </a:ln>
          <a:effectLst/>
        </p:spPr>
      </p:cxn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274197F5-610F-B547-B9C9-850E8A87B2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361" y="411702"/>
            <a:ext cx="9923223" cy="84972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757644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llage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722AD861-2808-234C-B0AF-55D9741099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4525" y="476250"/>
            <a:ext cx="908050" cy="366247"/>
          </a:xfrm>
          <a:prstGeom prst="rect">
            <a:avLst/>
          </a:prstGeom>
        </p:spPr>
      </p:pic>
      <p:sp>
        <p:nvSpPr>
          <p:cNvPr id="12" name="Segnaposto numero diapositiva 4">
            <a:extLst>
              <a:ext uri="{FF2B5EF4-FFF2-40B4-BE49-F238E27FC236}">
                <a16:creationId xmlns:a16="http://schemas.microsoft.com/office/drawing/2014/main" id="{BC3E3132-B7E7-F04F-BDA1-3CBFBD605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1FDC3FE1-5361-9B42-B7D6-CCC87887A1B2}"/>
              </a:ext>
            </a:extLst>
          </p:cNvPr>
          <p:cNvCxnSpPr>
            <a:cxnSpLocks/>
          </p:cNvCxnSpPr>
          <p:nvPr userDrawn="1"/>
        </p:nvCxnSpPr>
        <p:spPr>
          <a:xfrm>
            <a:off x="479425" y="1508850"/>
            <a:ext cx="11233150" cy="0"/>
          </a:xfrm>
          <a:prstGeom prst="line">
            <a:avLst/>
          </a:prstGeom>
          <a:noFill/>
          <a:ln w="25400" cap="flat" cmpd="sng" algn="ctr">
            <a:solidFill>
              <a:schemeClr val="accent4"/>
            </a:solidFill>
            <a:prstDash val="solid"/>
          </a:ln>
          <a:effectLst/>
        </p:spPr>
      </p:cxnSp>
      <p:sp>
        <p:nvSpPr>
          <p:cNvPr id="15" name="Segnaposto testo 6">
            <a:extLst>
              <a:ext uri="{FF2B5EF4-FFF2-40B4-BE49-F238E27FC236}">
                <a16:creationId xmlns:a16="http://schemas.microsoft.com/office/drawing/2014/main" id="{A1C95534-0D55-B94C-853B-4E8FFDA329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361" y="411702"/>
            <a:ext cx="9923223" cy="84972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accent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it-IT"/>
              <a:t>Clicca per inserire il titolo</a:t>
            </a:r>
          </a:p>
        </p:txBody>
      </p:sp>
      <p:sp>
        <p:nvSpPr>
          <p:cNvPr id="16" name="Segnaposto immagine 2">
            <a:extLst>
              <a:ext uri="{FF2B5EF4-FFF2-40B4-BE49-F238E27FC236}">
                <a16:creationId xmlns:a16="http://schemas.microsoft.com/office/drawing/2014/main" id="{24C87170-5251-CE4F-A6E9-8ACD3177C4B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90183" y="4342259"/>
            <a:ext cx="3449638" cy="202627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it-IT"/>
          </a:p>
        </p:txBody>
      </p:sp>
      <p:sp>
        <p:nvSpPr>
          <p:cNvPr id="21" name="Segnaposto immagine 2">
            <a:extLst>
              <a:ext uri="{FF2B5EF4-FFF2-40B4-BE49-F238E27FC236}">
                <a16:creationId xmlns:a16="http://schemas.microsoft.com/office/drawing/2014/main" id="{009CEB06-3AB2-6C48-80A4-C96EEB9110D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71181" y="4342259"/>
            <a:ext cx="3449638" cy="202627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it-IT"/>
          </a:p>
        </p:txBody>
      </p:sp>
      <p:sp>
        <p:nvSpPr>
          <p:cNvPr id="22" name="Segnaposto immagine 2">
            <a:extLst>
              <a:ext uri="{FF2B5EF4-FFF2-40B4-BE49-F238E27FC236}">
                <a16:creationId xmlns:a16="http://schemas.microsoft.com/office/drawing/2014/main" id="{F19317E5-E540-F14F-8DFC-5FD8EEDC457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251202" y="4342259"/>
            <a:ext cx="3449638" cy="202627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it-IT"/>
          </a:p>
        </p:txBody>
      </p:sp>
      <p:sp>
        <p:nvSpPr>
          <p:cNvPr id="23" name="Segnaposto immagine 2">
            <a:extLst>
              <a:ext uri="{FF2B5EF4-FFF2-40B4-BE49-F238E27FC236}">
                <a16:creationId xmlns:a16="http://schemas.microsoft.com/office/drawing/2014/main" id="{0A8EC1F1-044E-BB45-B3C3-3800C68D794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0183" y="1964819"/>
            <a:ext cx="3449638" cy="202627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it-IT"/>
          </a:p>
        </p:txBody>
      </p:sp>
      <p:sp>
        <p:nvSpPr>
          <p:cNvPr id="24" name="Segnaposto immagine 2">
            <a:extLst>
              <a:ext uri="{FF2B5EF4-FFF2-40B4-BE49-F238E27FC236}">
                <a16:creationId xmlns:a16="http://schemas.microsoft.com/office/drawing/2014/main" id="{ED2D6FA3-E123-5D4A-8CE4-ED0D66B7A46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71181" y="1964819"/>
            <a:ext cx="3449638" cy="202627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it-IT"/>
          </a:p>
        </p:txBody>
      </p:sp>
      <p:sp>
        <p:nvSpPr>
          <p:cNvPr id="25" name="Segnaposto immagine 2">
            <a:extLst>
              <a:ext uri="{FF2B5EF4-FFF2-40B4-BE49-F238E27FC236}">
                <a16:creationId xmlns:a16="http://schemas.microsoft.com/office/drawing/2014/main" id="{3D2DBA5E-E27E-0F41-8AEC-90CD33EBA32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251202" y="1964819"/>
            <a:ext cx="3449638" cy="202627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978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gnaposto titolo 13">
            <a:extLst>
              <a:ext uri="{FF2B5EF4-FFF2-40B4-BE49-F238E27FC236}">
                <a16:creationId xmlns:a16="http://schemas.microsoft.com/office/drawing/2014/main" id="{8F5F1022-8D58-954F-AA72-3128DC033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352457"/>
            <a:ext cx="11233150" cy="4196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numero diapositiva 4">
            <a:extLst>
              <a:ext uri="{FF2B5EF4-FFF2-40B4-BE49-F238E27FC236}">
                <a16:creationId xmlns:a16="http://schemas.microsoft.com/office/drawing/2014/main" id="{0816D7AF-1B16-984C-84C7-03ED03445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B0604020202020204" charset="0"/>
                <a:cs typeface="Poppins" panose="020B0604020202020204" charset="0"/>
              </a:defRPr>
            </a:lvl1pPr>
          </a:lstStyle>
          <a:p>
            <a:fld id="{B683BA15-FBD2-4A06-BE22-2CD24AC2FD1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682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71" r:id="rId5"/>
    <p:sldLayoutId id="2147483672" r:id="rId6"/>
    <p:sldLayoutId id="2147483682" r:id="rId7"/>
    <p:sldLayoutId id="2147483662" r:id="rId8"/>
    <p:sldLayoutId id="2147483663" r:id="rId9"/>
    <p:sldLayoutId id="2147483667" r:id="rId10"/>
    <p:sldLayoutId id="2147483677" r:id="rId11"/>
    <p:sldLayoutId id="2147483668" r:id="rId12"/>
    <p:sldLayoutId id="2147483669" r:id="rId13"/>
    <p:sldLayoutId id="2147483670" r:id="rId14"/>
    <p:sldLayoutId id="2147483678" r:id="rId15"/>
    <p:sldLayoutId id="2147483666" r:id="rId16"/>
    <p:sldLayoutId id="2147483683" r:id="rId17"/>
    <p:sldLayoutId id="2147483684" r:id="rId18"/>
    <p:sldLayoutId id="2147483673" r:id="rId19"/>
    <p:sldLayoutId id="2147483674" r:id="rId20"/>
    <p:sldLayoutId id="2147483675" r:id="rId21"/>
    <p:sldLayoutId id="2147483676" r:id="rId2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65000"/>
              <a:lumOff val="35000"/>
            </a:schemeClr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  <p15:guide id="4" orient="horz" pos="300" userDrawn="1">
          <p15:clr>
            <a:srgbClr val="F26B43"/>
          </p15:clr>
        </p15:guide>
        <p15:guide id="5" pos="7378" userDrawn="1">
          <p15:clr>
            <a:srgbClr val="F26B43"/>
          </p15:clr>
        </p15:guide>
        <p15:guide id="6" orient="horz" pos="4020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123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anosvlo/MARL-for-Anatomical-Landmark-Detecti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github.com/gml16/rl-medical" TargetMode="External"/><Relationship Id="rId5" Type="http://schemas.openxmlformats.org/officeDocument/2006/relationships/hyperlink" Target="https://github.com/amiralansary/rl-medical" TargetMode="External"/><Relationship Id="rId4" Type="http://schemas.openxmlformats.org/officeDocument/2006/relationships/hyperlink" Target="https://github.com/ECNUACRush/H3DE-Net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920A634-CEFA-2E46-A010-01A1BB391E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27681" y="395098"/>
            <a:ext cx="5037138" cy="955675"/>
          </a:xfrm>
        </p:spPr>
        <p:txBody>
          <a:bodyPr/>
          <a:lstStyle/>
          <a:p>
            <a:pPr fontAlgn="base"/>
            <a:r>
              <a:rPr lang="it-IT" err="1"/>
              <a:t>Elective</a:t>
            </a:r>
            <a:r>
              <a:rPr lang="it-IT"/>
              <a:t> activities-Project</a:t>
            </a:r>
            <a:r>
              <a:rPr lang="en-US"/>
              <a:t>​</a:t>
            </a:r>
          </a:p>
          <a:p>
            <a:pPr fontAlgn="base"/>
            <a:r>
              <a:rPr lang="it-IT" err="1"/>
              <a:t>UniSR</a:t>
            </a:r>
            <a:r>
              <a:rPr lang="it-IT"/>
              <a:t>/OSR </a:t>
            </a:r>
            <a:r>
              <a:rPr lang="it-IT" err="1"/>
              <a:t>Artificial</a:t>
            </a:r>
            <a:r>
              <a:rPr lang="it-IT"/>
              <a:t> Intelligence Center "AI-HUB"</a:t>
            </a:r>
            <a:r>
              <a:rPr lang="en-US"/>
              <a:t>​</a:t>
            </a:r>
          </a:p>
          <a:p>
            <a:pPr fontAlgn="base"/>
            <a:r>
              <a:rPr lang="en-US"/>
              <a:t>Giulia </a:t>
            </a:r>
            <a:r>
              <a:rPr lang="en-US" err="1"/>
              <a:t>Caffi</a:t>
            </a:r>
            <a:r>
              <a:rPr lang="en-US"/>
              <a:t>, Elisa </a:t>
            </a:r>
            <a:r>
              <a:rPr lang="en-US" err="1"/>
              <a:t>Merigo</a:t>
            </a:r>
            <a:r>
              <a:rPr lang="en-US"/>
              <a:t>, Anna Uberti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1872CAB-2DE9-AA45-89CB-8B8F98E5D5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Automatic Anatomical Landmark Detection in Medical Images​</a:t>
            </a:r>
            <a:endParaRPr lang="it-IT" sz="440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DF79E05D-E1F1-FB68-FD12-AD5B740A0A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6977" y="395098"/>
            <a:ext cx="5398968" cy="955675"/>
          </a:xfrm>
        </p:spPr>
        <p:txBody>
          <a:bodyPr/>
          <a:lstStyle/>
          <a:p>
            <a:r>
              <a:rPr lang="it-IT" err="1"/>
              <a:t>Master's</a:t>
            </a:r>
            <a:r>
              <a:rPr lang="it-IT"/>
              <a:t> Degree Course in Health </a:t>
            </a:r>
            <a:r>
              <a:rPr lang="it-IT" err="1"/>
              <a:t>Informatics</a:t>
            </a:r>
            <a:endParaRPr lang="it-IT"/>
          </a:p>
          <a:p>
            <a:r>
              <a:rPr lang="it-IT"/>
              <a:t>A. A. 2024/2025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9833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815650A-777C-B449-9A7C-847E1627C3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3361" y="2326130"/>
            <a:ext cx="11356679" cy="4328057"/>
          </a:xfrm>
        </p:spPr>
        <p:txBody>
          <a:bodyPr/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GB" sz="1800" noProof="0"/>
              <a:t>Identifying anatomical landmarks in medical images is a fundamental step in many image analysis applications, including organ segmentation, image registration and landmark-based alignment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GB" sz="1800" noProof="0"/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GB" sz="1800" noProof="0"/>
              <a:t>Fast and accurate automatic landmark localization methods can eliminate the need for manual identification and are particularly beneficial for precise multi-landmark detection</a:t>
            </a:r>
          </a:p>
          <a:p>
            <a:pPr>
              <a:buClr>
                <a:srgbClr val="C00000"/>
              </a:buClr>
            </a:pPr>
            <a:endParaRPr lang="en-GB" sz="1800" noProof="0"/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GB" sz="1800" noProof="0"/>
              <a:t>However, landmark detection remains challenging due to anatomical variability, spatial dependencies, high computational costs for 3D localization, and limited annotated training data</a:t>
            </a:r>
          </a:p>
          <a:p>
            <a:pPr>
              <a:buClr>
                <a:srgbClr val="C00000"/>
              </a:buClr>
            </a:pPr>
            <a:endParaRPr lang="en-GB" sz="1800" noProof="0"/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GB" sz="1800" noProof="0"/>
              <a:t>Our work focused on detecting the right and left coronary ostia.</a:t>
            </a:r>
            <a:endParaRPr lang="en-GB" sz="1600" noProof="0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12411AD-239D-8C44-B410-C33E9717E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3BA15-FBD2-4A06-BE22-2CD24AC2FD11}" type="slidenum">
              <a:rPr lang="it-IT" smtClean="0"/>
              <a:pPr/>
              <a:t>2</a:t>
            </a:fld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158C579-6BF2-5A43-A8A9-50106D05B0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0"/>
              <a:t>Problem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489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7E6C7-4810-4E58-27DD-561C0D4AA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magine 72">
            <a:extLst>
              <a:ext uri="{FF2B5EF4-FFF2-40B4-BE49-F238E27FC236}">
                <a16:creationId xmlns:a16="http://schemas.microsoft.com/office/drawing/2014/main" id="{FBB7CC8C-6DDE-303E-C118-7E65DAD75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53" y="5267711"/>
            <a:ext cx="3124596" cy="1044000"/>
          </a:xfrm>
          <a:prstGeom prst="rect">
            <a:avLst/>
          </a:prstGeom>
        </p:spPr>
      </p:pic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C804BF97-D5FF-3237-6504-934F2449FD04}"/>
              </a:ext>
            </a:extLst>
          </p:cNvPr>
          <p:cNvSpPr/>
          <p:nvPr/>
        </p:nvSpPr>
        <p:spPr>
          <a:xfrm>
            <a:off x="435291" y="2110137"/>
            <a:ext cx="3536087" cy="4336161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10CCCD98-479F-C298-7388-51AD52E6C207}"/>
              </a:ext>
            </a:extLst>
          </p:cNvPr>
          <p:cNvSpPr/>
          <p:nvPr/>
        </p:nvSpPr>
        <p:spPr>
          <a:xfrm>
            <a:off x="581690" y="1691862"/>
            <a:ext cx="3243291" cy="849722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ECC28FD-3936-8BA9-7569-6226F32BD53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15939" y="1785541"/>
            <a:ext cx="2644566" cy="778721"/>
          </a:xfrm>
        </p:spPr>
        <p:txBody>
          <a:bodyPr/>
          <a:lstStyle/>
          <a:p>
            <a:r>
              <a:rPr lang="en-US" sz="1400" b="1">
                <a:solidFill>
                  <a:schemeClr val="bg1"/>
                </a:solidFill>
              </a:rPr>
              <a:t>State of the Art and Key Techniques in Landmark Detection</a:t>
            </a:r>
            <a:endParaRPr lang="en-US" sz="1400"/>
          </a:p>
          <a:p>
            <a:endParaRPr lang="en-US"/>
          </a:p>
          <a:p>
            <a:endParaRPr lang="en-US"/>
          </a:p>
          <a:p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58D4A79-663A-324F-01B5-652BDC27B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3BA15-FBD2-4A06-BE22-2CD24AC2FD11}" type="slidenum">
              <a:rPr lang="it-IT" smtClean="0"/>
              <a:pPr/>
              <a:t>3</a:t>
            </a:fld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41456D0-CA51-013D-2EFF-821BD90AD0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it-IT"/>
              <a:t>Project </a:t>
            </a:r>
            <a:r>
              <a:rPr lang="it-IT" err="1"/>
              <a:t>Outline</a:t>
            </a:r>
            <a:r>
              <a:rPr lang="it-IT"/>
              <a:t> and </a:t>
            </a:r>
            <a:r>
              <a:rPr lang="it-IT" err="1"/>
              <a:t>Objective</a:t>
            </a:r>
            <a:endParaRPr lang="it-IT"/>
          </a:p>
        </p:txBody>
      </p:sp>
      <p:sp>
        <p:nvSpPr>
          <p:cNvPr id="35" name="Segnaposto testo 4">
            <a:extLst>
              <a:ext uri="{FF2B5EF4-FFF2-40B4-BE49-F238E27FC236}">
                <a16:creationId xmlns:a16="http://schemas.microsoft.com/office/drawing/2014/main" id="{816BF336-8423-2027-351A-8A8EBC0BB057}"/>
              </a:ext>
            </a:extLst>
          </p:cNvPr>
          <p:cNvSpPr txBox="1">
            <a:spLocks/>
          </p:cNvSpPr>
          <p:nvPr/>
        </p:nvSpPr>
        <p:spPr>
          <a:xfrm>
            <a:off x="652417" y="1809474"/>
            <a:ext cx="434249" cy="77872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bg1"/>
                </a:solidFill>
              </a:rPr>
              <a:t>1</a:t>
            </a:r>
          </a:p>
          <a:p>
            <a:endParaRPr lang="en-US" sz="1100"/>
          </a:p>
          <a:p>
            <a:endParaRPr lang="it-IT" sz="11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9798B2B1-4C1E-E954-3FA3-984788939829}"/>
              </a:ext>
            </a:extLst>
          </p:cNvPr>
          <p:cNvSpPr/>
          <p:nvPr/>
        </p:nvSpPr>
        <p:spPr>
          <a:xfrm>
            <a:off x="4323292" y="1809474"/>
            <a:ext cx="3536087" cy="4336161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9AF9D574-0B6F-5323-7549-3353E570F9FF}"/>
              </a:ext>
            </a:extLst>
          </p:cNvPr>
          <p:cNvSpPr/>
          <p:nvPr/>
        </p:nvSpPr>
        <p:spPr>
          <a:xfrm>
            <a:off x="4469689" y="5832215"/>
            <a:ext cx="3243291" cy="828000"/>
          </a:xfrm>
          <a:prstGeom prst="roundRect">
            <a:avLst/>
          </a:prstGeom>
          <a:solidFill>
            <a:schemeClr val="accent1"/>
          </a:solidFill>
          <a:ln>
            <a:solidFill>
              <a:srgbClr val="009C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Segnaposto testo 4">
            <a:extLst>
              <a:ext uri="{FF2B5EF4-FFF2-40B4-BE49-F238E27FC236}">
                <a16:creationId xmlns:a16="http://schemas.microsoft.com/office/drawing/2014/main" id="{A969AF4E-4EAB-B782-5BCB-E713EC00BCB4}"/>
              </a:ext>
            </a:extLst>
          </p:cNvPr>
          <p:cNvSpPr txBox="1">
            <a:spLocks/>
          </p:cNvSpPr>
          <p:nvPr/>
        </p:nvSpPr>
        <p:spPr>
          <a:xfrm>
            <a:off x="5010501" y="5899944"/>
            <a:ext cx="2644566" cy="77872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bg1"/>
                </a:solidFill>
              </a:rPr>
              <a:t>Manual Annotation of San Raffaele Hospital Dataset Images</a:t>
            </a:r>
            <a:endParaRPr lang="en-US" sz="1400"/>
          </a:p>
          <a:p>
            <a:endParaRPr lang="en-US"/>
          </a:p>
          <a:p>
            <a:endParaRPr lang="en-US"/>
          </a:p>
          <a:p>
            <a:endParaRPr lang="it-IT"/>
          </a:p>
        </p:txBody>
      </p:sp>
      <p:sp>
        <p:nvSpPr>
          <p:cNvPr id="39" name="Segnaposto testo 4">
            <a:extLst>
              <a:ext uri="{FF2B5EF4-FFF2-40B4-BE49-F238E27FC236}">
                <a16:creationId xmlns:a16="http://schemas.microsoft.com/office/drawing/2014/main" id="{60E5691F-4F19-28DF-B366-B05732E761EF}"/>
              </a:ext>
            </a:extLst>
          </p:cNvPr>
          <p:cNvSpPr txBox="1">
            <a:spLocks/>
          </p:cNvSpPr>
          <p:nvPr/>
        </p:nvSpPr>
        <p:spPr>
          <a:xfrm>
            <a:off x="4498073" y="5934004"/>
            <a:ext cx="434249" cy="77872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bg1"/>
                </a:solidFill>
              </a:rPr>
              <a:t>2</a:t>
            </a:r>
          </a:p>
          <a:p>
            <a:endParaRPr lang="en-US" sz="1100"/>
          </a:p>
          <a:p>
            <a:endParaRPr lang="it-IT" sz="1100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70BC86EC-9931-F9E3-A0AD-C416E3D64004}"/>
              </a:ext>
            </a:extLst>
          </p:cNvPr>
          <p:cNvSpPr/>
          <p:nvPr/>
        </p:nvSpPr>
        <p:spPr>
          <a:xfrm>
            <a:off x="8225095" y="2099512"/>
            <a:ext cx="3536087" cy="4336161"/>
          </a:xfrm>
          <a:prstGeom prst="round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E376477B-4785-AA6E-544C-C7E9C60A6F93}"/>
              </a:ext>
            </a:extLst>
          </p:cNvPr>
          <p:cNvSpPr/>
          <p:nvPr/>
        </p:nvSpPr>
        <p:spPr>
          <a:xfrm>
            <a:off x="8371494" y="1681236"/>
            <a:ext cx="3243291" cy="828000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Segnaposto testo 4">
            <a:extLst>
              <a:ext uri="{FF2B5EF4-FFF2-40B4-BE49-F238E27FC236}">
                <a16:creationId xmlns:a16="http://schemas.microsoft.com/office/drawing/2014/main" id="{50040B00-C68E-A2EF-FA7D-D3C1DB835D07}"/>
              </a:ext>
            </a:extLst>
          </p:cNvPr>
          <p:cNvSpPr txBox="1">
            <a:spLocks/>
          </p:cNvSpPr>
          <p:nvPr/>
        </p:nvSpPr>
        <p:spPr>
          <a:xfrm>
            <a:off x="8883922" y="1748965"/>
            <a:ext cx="2644566" cy="77872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bg1"/>
                </a:solidFill>
              </a:rPr>
              <a:t>Development of Software for Automatic Landmark Detection</a:t>
            </a:r>
            <a:endParaRPr lang="it-IT" sz="1400" b="1">
              <a:solidFill>
                <a:schemeClr val="bg1"/>
              </a:solidFill>
            </a:endParaRPr>
          </a:p>
          <a:p>
            <a:endParaRPr lang="en-US"/>
          </a:p>
          <a:p>
            <a:endParaRPr lang="en-US"/>
          </a:p>
          <a:p>
            <a:endParaRPr lang="it-IT"/>
          </a:p>
        </p:txBody>
      </p:sp>
      <p:sp>
        <p:nvSpPr>
          <p:cNvPr id="47" name="Segnaposto testo 4">
            <a:extLst>
              <a:ext uri="{FF2B5EF4-FFF2-40B4-BE49-F238E27FC236}">
                <a16:creationId xmlns:a16="http://schemas.microsoft.com/office/drawing/2014/main" id="{2F08B384-76B6-D14A-F7CB-C9D07B0D5DC5}"/>
              </a:ext>
            </a:extLst>
          </p:cNvPr>
          <p:cNvSpPr txBox="1">
            <a:spLocks/>
          </p:cNvSpPr>
          <p:nvPr/>
        </p:nvSpPr>
        <p:spPr>
          <a:xfrm>
            <a:off x="8401091" y="1785541"/>
            <a:ext cx="434249" cy="77872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>
                <a:solidFill>
                  <a:schemeClr val="bg1"/>
                </a:solidFill>
              </a:rPr>
              <a:t>3</a:t>
            </a:r>
          </a:p>
          <a:p>
            <a:endParaRPr lang="en-US" sz="1100"/>
          </a:p>
          <a:p>
            <a:endParaRPr lang="it-IT" sz="1100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3C89189C-969A-22A7-1546-86B1884F5678}"/>
              </a:ext>
            </a:extLst>
          </p:cNvPr>
          <p:cNvSpPr txBox="1"/>
          <p:nvPr/>
        </p:nvSpPr>
        <p:spPr>
          <a:xfrm>
            <a:off x="555721" y="2634446"/>
            <a:ext cx="3439948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b="1"/>
              <a:t>Activities</a:t>
            </a:r>
            <a:r>
              <a:rPr lang="en-US" sz="110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/>
              <a:t>Review relevant studies on landmark detection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/>
              <a:t>Explore open-source implementations and tools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/>
              <a:t>Identify ongoing research and approaches</a:t>
            </a:r>
          </a:p>
          <a:p>
            <a:endParaRPr lang="en-US" sz="1100"/>
          </a:p>
          <a:p>
            <a:r>
              <a:rPr lang="en-US" sz="1100" b="1"/>
              <a:t>Objective:</a:t>
            </a:r>
          </a:p>
          <a:p>
            <a:r>
              <a:rPr lang="en-US" sz="1100"/>
              <a:t>Make key decisions on methods and techniques for landmark detection, including network architectures and sample size.</a:t>
            </a:r>
          </a:p>
          <a:p>
            <a:endParaRPr lang="en-US" sz="1100"/>
          </a:p>
          <a:p>
            <a:r>
              <a:rPr lang="en-US" sz="1100" b="1"/>
              <a:t>Time: </a:t>
            </a:r>
          </a:p>
          <a:p>
            <a:r>
              <a:rPr lang="en-US" sz="1100"/>
              <a:t>3 weeks (12h)</a:t>
            </a: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F14829EB-431D-F6F5-6E4E-E291617E1278}"/>
              </a:ext>
            </a:extLst>
          </p:cNvPr>
          <p:cNvSpPr txBox="1"/>
          <p:nvPr/>
        </p:nvSpPr>
        <p:spPr>
          <a:xfrm>
            <a:off x="4447392" y="3317360"/>
            <a:ext cx="343994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b="1"/>
              <a:t>Activities</a:t>
            </a:r>
            <a:r>
              <a:rPr lang="en-US" sz="110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/>
              <a:t>Determine the number of cases needed for training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/>
              <a:t>Manually annotate images using the selected software</a:t>
            </a:r>
          </a:p>
          <a:p>
            <a:endParaRPr lang="en-US" sz="1100"/>
          </a:p>
          <a:p>
            <a:r>
              <a:rPr lang="en-US" sz="1100" b="1"/>
              <a:t>Objective:</a:t>
            </a:r>
          </a:p>
          <a:p>
            <a:r>
              <a:rPr lang="en-US" sz="1100"/>
              <a:t>Prepare data in the required format for network training, ensuring compatibility with the selected network.</a:t>
            </a:r>
          </a:p>
          <a:p>
            <a:endParaRPr lang="en-US" sz="1100"/>
          </a:p>
          <a:p>
            <a:r>
              <a:rPr lang="en-US" sz="1100" b="1"/>
              <a:t>Time: </a:t>
            </a:r>
          </a:p>
          <a:p>
            <a:r>
              <a:rPr lang="en-US" sz="1100"/>
              <a:t>3 weeks (12h)</a:t>
            </a:r>
          </a:p>
          <a:p>
            <a:endParaRPr lang="en-US" sz="1100"/>
          </a:p>
        </p:txBody>
      </p:sp>
      <p:pic>
        <p:nvPicPr>
          <p:cNvPr id="60" name="Immagine 59">
            <a:extLst>
              <a:ext uri="{FF2B5EF4-FFF2-40B4-BE49-F238E27FC236}">
                <a16:creationId xmlns:a16="http://schemas.microsoft.com/office/drawing/2014/main" id="{581AE5C1-AE0F-0E0D-1BF8-98504F3AD3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297" t="26887" r="23318" b="28793"/>
          <a:stretch/>
        </p:blipFill>
        <p:spPr>
          <a:xfrm>
            <a:off x="6241247" y="2001584"/>
            <a:ext cx="1211167" cy="1152000"/>
          </a:xfrm>
          <a:prstGeom prst="rect">
            <a:avLst/>
          </a:prstGeom>
        </p:spPr>
      </p:pic>
      <p:pic>
        <p:nvPicPr>
          <p:cNvPr id="64" name="Immagine 63">
            <a:extLst>
              <a:ext uri="{FF2B5EF4-FFF2-40B4-BE49-F238E27FC236}">
                <a16:creationId xmlns:a16="http://schemas.microsoft.com/office/drawing/2014/main" id="{EED301F2-D663-A86E-2D81-99AAC73B72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118" t="13208" r="18070" b="12876"/>
          <a:stretch/>
        </p:blipFill>
        <p:spPr>
          <a:xfrm>
            <a:off x="7480550" y="2917335"/>
            <a:ext cx="207323" cy="252000"/>
          </a:xfrm>
          <a:prstGeom prst="rect">
            <a:avLst/>
          </a:prstGeom>
        </p:spPr>
      </p:pic>
      <p:pic>
        <p:nvPicPr>
          <p:cNvPr id="66" name="Immagine 65">
            <a:extLst>
              <a:ext uri="{FF2B5EF4-FFF2-40B4-BE49-F238E27FC236}">
                <a16:creationId xmlns:a16="http://schemas.microsoft.com/office/drawing/2014/main" id="{5E43E9E3-1865-674B-D48D-A9B576267B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914" t="13748" b="12126"/>
          <a:stretch/>
        </p:blipFill>
        <p:spPr>
          <a:xfrm>
            <a:off x="5807603" y="2943569"/>
            <a:ext cx="292298" cy="214831"/>
          </a:xfrm>
          <a:prstGeom prst="rect">
            <a:avLst/>
          </a:prstGeom>
        </p:spPr>
      </p:pic>
      <p:pic>
        <p:nvPicPr>
          <p:cNvPr id="68" name="Immagine 67">
            <a:extLst>
              <a:ext uri="{FF2B5EF4-FFF2-40B4-BE49-F238E27FC236}">
                <a16:creationId xmlns:a16="http://schemas.microsoft.com/office/drawing/2014/main" id="{F0A2692B-B700-E157-7FE1-1ED638C516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836" y="2001584"/>
            <a:ext cx="1171767" cy="1152000"/>
          </a:xfrm>
          <a:prstGeom prst="rect">
            <a:avLst/>
          </a:prstGeom>
        </p:spPr>
      </p:pic>
      <p:sp>
        <p:nvSpPr>
          <p:cNvPr id="69" name="Arrow: Chevron 14">
            <a:extLst>
              <a:ext uri="{FF2B5EF4-FFF2-40B4-BE49-F238E27FC236}">
                <a16:creationId xmlns:a16="http://schemas.microsoft.com/office/drawing/2014/main" id="{9CCF5A1D-CBED-19FC-3656-A4BAD91F1E63}"/>
              </a:ext>
            </a:extLst>
          </p:cNvPr>
          <p:cNvSpPr/>
          <p:nvPr/>
        </p:nvSpPr>
        <p:spPr>
          <a:xfrm>
            <a:off x="5913438" y="2470373"/>
            <a:ext cx="241512" cy="248576"/>
          </a:xfrm>
          <a:prstGeom prst="chevron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9DF5C26A-2492-171F-8450-EDEB4C4CFE14}"/>
              </a:ext>
            </a:extLst>
          </p:cNvPr>
          <p:cNvSpPr txBox="1"/>
          <p:nvPr/>
        </p:nvSpPr>
        <p:spPr>
          <a:xfrm>
            <a:off x="8321233" y="2651369"/>
            <a:ext cx="343994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b="1"/>
              <a:t>Activities</a:t>
            </a:r>
            <a:r>
              <a:rPr lang="en-US" sz="110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/>
              <a:t>Implement and integrate the selected network architecture for landmark detection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/>
              <a:t>Test and optimize the software with sample data</a:t>
            </a:r>
          </a:p>
          <a:p>
            <a:endParaRPr lang="en-US" sz="1100"/>
          </a:p>
          <a:p>
            <a:r>
              <a:rPr lang="en-US" sz="1100" b="1"/>
              <a:t>Objective:</a:t>
            </a:r>
          </a:p>
          <a:p>
            <a:r>
              <a:rPr lang="en-US" sz="1100"/>
              <a:t>Develop/adapt software for accurate automatic anatomical landmark detection using the selected network architecture.</a:t>
            </a:r>
          </a:p>
          <a:p>
            <a:endParaRPr lang="en-US" sz="1100"/>
          </a:p>
          <a:p>
            <a:r>
              <a:rPr lang="en-US" sz="1100" b="1"/>
              <a:t>Time: </a:t>
            </a:r>
          </a:p>
          <a:p>
            <a:r>
              <a:rPr lang="en-US" sz="1100"/>
              <a:t>4 weeks (32h)</a:t>
            </a:r>
          </a:p>
          <a:p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29102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200BBD9D-7CD5-B5B8-B92F-18F87C9307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361" y="411702"/>
            <a:ext cx="10344660" cy="849722"/>
          </a:xfrm>
        </p:spPr>
        <p:txBody>
          <a:bodyPr/>
          <a:lstStyle/>
          <a:p>
            <a:r>
              <a:rPr lang="en-GB" noProof="0"/>
              <a:t>Bibliography: possible ways of approaching the problem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0745AF9D-7794-7783-BC91-F14AAD82F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3BA15-FBD2-4A06-BE22-2CD24AC2FD11}" type="slidenum">
              <a:rPr lang="en-GB" noProof="0" smtClean="0"/>
              <a:pPr/>
              <a:t>4</a:t>
            </a:fld>
            <a:endParaRPr lang="en-GB" noProof="0"/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04B29E0D-B805-164D-A80B-ECF62ED56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165780"/>
              </p:ext>
            </p:extLst>
          </p:nvPr>
        </p:nvGraphicFramePr>
        <p:xfrm>
          <a:off x="923669" y="1168997"/>
          <a:ext cx="10344660" cy="4860831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880491">
                  <a:extLst>
                    <a:ext uri="{9D8B030D-6E8A-4147-A177-3AD203B41FA5}">
                      <a16:colId xmlns:a16="http://schemas.microsoft.com/office/drawing/2014/main" val="2290040447"/>
                    </a:ext>
                  </a:extLst>
                </a:gridCol>
                <a:gridCol w="2163332">
                  <a:extLst>
                    <a:ext uri="{9D8B030D-6E8A-4147-A177-3AD203B41FA5}">
                      <a16:colId xmlns:a16="http://schemas.microsoft.com/office/drawing/2014/main" val="4112298493"/>
                    </a:ext>
                  </a:extLst>
                </a:gridCol>
                <a:gridCol w="2100279">
                  <a:extLst>
                    <a:ext uri="{9D8B030D-6E8A-4147-A177-3AD203B41FA5}">
                      <a16:colId xmlns:a16="http://schemas.microsoft.com/office/drawing/2014/main" val="879314532"/>
                    </a:ext>
                  </a:extLst>
                </a:gridCol>
                <a:gridCol w="2100279">
                  <a:extLst>
                    <a:ext uri="{9D8B030D-6E8A-4147-A177-3AD203B41FA5}">
                      <a16:colId xmlns:a16="http://schemas.microsoft.com/office/drawing/2014/main" val="3551159362"/>
                    </a:ext>
                  </a:extLst>
                </a:gridCol>
                <a:gridCol w="2100279">
                  <a:extLst>
                    <a:ext uri="{9D8B030D-6E8A-4147-A177-3AD203B41FA5}">
                      <a16:colId xmlns:a16="http://schemas.microsoft.com/office/drawing/2014/main" val="1363163574"/>
                    </a:ext>
                  </a:extLst>
                </a:gridCol>
              </a:tblGrid>
              <a:tr h="34978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GB" b="0" i="1" u="sng" noProof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noProof="0"/>
                        <a:t>MARL-for-ALD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noProof="0"/>
                        <a:t>H3DE-Net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noProof="0" err="1"/>
                        <a:t>Rl</a:t>
                      </a:r>
                      <a:r>
                        <a:rPr lang="en-GB" b="0" noProof="0"/>
                        <a:t>-medical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noProof="0" err="1"/>
                        <a:t>Rl</a:t>
                      </a:r>
                      <a:r>
                        <a:rPr lang="en-GB" b="0" noProof="0"/>
                        <a:t>-medical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638815"/>
                  </a:ext>
                </a:extLst>
              </a:tr>
              <a:tr h="12326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i="1" u="sng" noProof="0">
                          <a:solidFill>
                            <a:schemeClr val="tx1"/>
                          </a:solidFill>
                        </a:rPr>
                        <a:t>Extended title</a:t>
                      </a:r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noProof="0"/>
                        <a:t>Multiple anatomical landmark detection using multiagent RL.</a:t>
                      </a:r>
                    </a:p>
                    <a:p>
                      <a:pPr algn="l"/>
                      <a:endParaRPr lang="en-GB" sz="1400" b="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H3DE-Net: Efficient and Accurate 3D Landmark Detection in Medical Imaging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RL-Medical: </a:t>
                      </a:r>
                      <a:r>
                        <a:rPr lang="en-GB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Multiagent Deep Reinforcement Learning for Anatomical Landmark Detection.</a:t>
                      </a:r>
                      <a:endParaRPr lang="en-GB" sz="14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RL-Medical: </a:t>
                      </a:r>
                      <a:r>
                        <a:rPr lang="en-GB" sz="14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 Reinforcement Learning (DRL) agents applied to medical images.</a:t>
                      </a:r>
                      <a:endParaRPr lang="en-GB" sz="14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GB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954726"/>
                  </a:ext>
                </a:extLst>
              </a:tr>
              <a:tr h="2432865">
                <a:tc>
                  <a:txBody>
                    <a:bodyPr/>
                    <a:lstStyle/>
                    <a:p>
                      <a:pPr lvl="0" defTabSz="914400">
                        <a:buNone/>
                        <a:tabLst/>
                        <a:defRPr/>
                      </a:pPr>
                      <a:r>
                        <a:rPr lang="en-GB" i="1" u="sng" noProof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Novel method for automatically detecting anatomical landmarks in 3D medical images using </a:t>
                      </a: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Multi-Agent Reinforcement Learning </a:t>
                      </a: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MARL</a:t>
                      </a: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Goal</a:t>
                      </a: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: improve the </a:t>
                      </a: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accuracy</a:t>
                      </a: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and </a:t>
                      </a: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efficiency</a:t>
                      </a: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. </a:t>
                      </a:r>
                      <a:endParaRPr lang="en-GB" sz="1400" b="0" noProof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1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Aim</a:t>
                      </a:r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accurately localize anatomical landmarks in 3D medical images.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uses a </a:t>
                      </a:r>
                      <a:r>
                        <a:rPr lang="en-GB" sz="1400" b="1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Supervised algorithm</a:t>
                      </a:r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which combines </a:t>
                      </a:r>
                      <a:r>
                        <a:rPr lang="en-GB" sz="1400" b="1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Convolutional Neural Network </a:t>
                      </a:r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400" b="1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CNN</a:t>
                      </a:r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and </a:t>
                      </a:r>
                      <a:r>
                        <a:rPr lang="en-GB" sz="1400" b="1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Transformers</a:t>
                      </a:r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en-GB" sz="1400" b="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project implements a novel </a:t>
                      </a:r>
                      <a:r>
                        <a:rPr lang="en-GB" sz="1400" b="1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communicative multi-agent reinforcement learning </a:t>
                      </a:r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400" b="1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C-MARL</a:t>
                      </a:r>
                      <a:r>
                        <a:rPr lang="en-GB" sz="14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system to automatically detect landmarks in 3D medical images. </a:t>
                      </a:r>
                      <a:endParaRPr lang="en-GB" sz="1400" b="1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noProof="0"/>
                        <a:t>It explores the application of </a:t>
                      </a:r>
                      <a:r>
                        <a:rPr lang="en-GB" sz="1400" b="1" noProof="0"/>
                        <a:t>Deep Reinforcement Learning (DRL) </a:t>
                      </a:r>
                      <a:r>
                        <a:rPr lang="en-GB" sz="1400" b="0" noProof="0"/>
                        <a:t>to 3D medical imagine analysis. </a:t>
                      </a:r>
                    </a:p>
                    <a:p>
                      <a:pPr algn="l"/>
                      <a:r>
                        <a:rPr lang="en-GB" sz="1400" b="0" i="1" noProof="0"/>
                        <a:t>Goal: </a:t>
                      </a:r>
                      <a:r>
                        <a:rPr lang="en-GB" sz="1400" b="0" i="0" noProof="0"/>
                        <a:t>automate complex clinical tasks.</a:t>
                      </a:r>
                      <a:endParaRPr lang="en-GB" sz="1400" i="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079554"/>
                  </a:ext>
                </a:extLst>
              </a:tr>
              <a:tr h="624111">
                <a:tc>
                  <a:txBody>
                    <a:bodyPr/>
                    <a:lstStyle/>
                    <a:p>
                      <a:pPr lvl="0" defTabSz="914400">
                        <a:buNone/>
                        <a:tabLst/>
                        <a:defRPr/>
                      </a:pPr>
                      <a:r>
                        <a:rPr lang="en-GB" i="1" u="sng" noProof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noProof="0">
                          <a:latin typeface="+mj-lt"/>
                        </a:rPr>
                        <a:t>Cardiac MRI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noProof="0"/>
                        <a:t>Cranial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noProof="0"/>
                        <a:t>Cardiac MRI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noProof="0"/>
                        <a:t>Cardiac MRI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903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77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2248B81C-3172-CCA8-3503-09F670BA83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7301" y="164276"/>
            <a:ext cx="5788700" cy="849722"/>
          </a:xfrm>
        </p:spPr>
        <p:txBody>
          <a:bodyPr/>
          <a:lstStyle/>
          <a:p>
            <a:r>
              <a:rPr lang="en-GB" noProof="0"/>
              <a:t>Selected Approach: H3DE-Net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4EFD99-21D5-F5EF-9735-F7E220D0A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3BA15-FBD2-4A06-BE22-2CD24AC2FD11}" type="slidenum">
              <a:rPr lang="it-IT" smtClean="0"/>
              <a:pPr/>
              <a:t>5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Diagramma 7">
                <a:extLst>
                  <a:ext uri="{FF2B5EF4-FFF2-40B4-BE49-F238E27FC236}">
                    <a16:creationId xmlns:a16="http://schemas.microsoft.com/office/drawing/2014/main" id="{AB33A3E9-DCA2-59CF-B747-64D914CB7C7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26249650"/>
                  </p:ext>
                </p:extLst>
              </p:nvPr>
            </p:nvGraphicFramePr>
            <p:xfrm>
              <a:off x="259786" y="333487"/>
              <a:ext cx="11831809" cy="652451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8" name="Diagramma 7">
                <a:extLst>
                  <a:ext uri="{FF2B5EF4-FFF2-40B4-BE49-F238E27FC236}">
                    <a16:creationId xmlns:a16="http://schemas.microsoft.com/office/drawing/2014/main" id="{AB33A3E9-DCA2-59CF-B747-64D914CB7C7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26249650"/>
                  </p:ext>
                </p:extLst>
              </p:nvPr>
            </p:nvGraphicFramePr>
            <p:xfrm>
              <a:off x="259786" y="333487"/>
              <a:ext cx="11831809" cy="652451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0477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0D0ADED-77C3-5730-45C8-EF70AB5DB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3BA15-FBD2-4A06-BE22-2CD24AC2FD11}" type="slidenum">
              <a:rPr lang="it-IT" smtClean="0"/>
              <a:pPr/>
              <a:t>6</a:t>
            </a:fld>
            <a:endParaRPr lang="it-IT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62FD90C-01A6-7FE2-2E52-CF8CFB5AB2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/>
              <a:t>Data </a:t>
            </a:r>
            <a:r>
              <a:rPr lang="it-IT" err="1"/>
              <a:t>collection</a:t>
            </a:r>
            <a:r>
              <a:rPr lang="it-IT"/>
              <a:t> (3D </a:t>
            </a:r>
            <a:r>
              <a:rPr lang="it-IT" err="1"/>
              <a:t>slicer</a:t>
            </a:r>
            <a:r>
              <a:rPr lang="it-IT"/>
              <a:t>)</a:t>
            </a:r>
          </a:p>
        </p:txBody>
      </p:sp>
      <p:pic>
        <p:nvPicPr>
          <p:cNvPr id="10" name="Immagine 9" descr="Immagine che contiene bianco e nero, arte&#10;&#10;Il contenuto generato dall&amp;#39;IA potrebbe non essere corretto.">
            <a:extLst>
              <a:ext uri="{FF2B5EF4-FFF2-40B4-BE49-F238E27FC236}">
                <a16:creationId xmlns:a16="http://schemas.microsoft.com/office/drawing/2014/main" id="{916E37A1-DB64-C4AF-CFA5-80B81C65F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336" y="2564404"/>
            <a:ext cx="3465325" cy="3511497"/>
          </a:xfrm>
          <a:prstGeom prst="rect">
            <a:avLst/>
          </a:prstGeom>
        </p:spPr>
      </p:pic>
      <p:pic>
        <p:nvPicPr>
          <p:cNvPr id="11" name="Immagine 10" descr="Immagine che contiene bianco e nero, arte&#10;&#10;Il contenuto generato dall&amp;#39;IA potrebbe non essere corretto.">
            <a:extLst>
              <a:ext uri="{FF2B5EF4-FFF2-40B4-BE49-F238E27FC236}">
                <a16:creationId xmlns:a16="http://schemas.microsoft.com/office/drawing/2014/main" id="{1ED95A4E-7401-A2E0-23CB-8B33DD9BB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336" y="2564403"/>
            <a:ext cx="3471783" cy="3511498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04DD130-07EC-56C0-3F15-E08A6A672A62}"/>
              </a:ext>
            </a:extLst>
          </p:cNvPr>
          <p:cNvSpPr txBox="1"/>
          <p:nvPr/>
        </p:nvSpPr>
        <p:spPr>
          <a:xfrm>
            <a:off x="457078" y="1716139"/>
            <a:ext cx="102417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Each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of the 200 CT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scans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was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manually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annotated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using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3D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Slicer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. </a:t>
            </a:r>
            <a:endParaRPr lang="it-IT">
              <a:solidFill>
                <a:schemeClr val="tx1">
                  <a:lumMod val="65000"/>
                  <a:lumOff val="35000"/>
                </a:schemeClr>
              </a:solidFill>
              <a:latin typeface="Poppins"/>
              <a:cs typeface="Poppins"/>
            </a:endParaRPr>
          </a:p>
          <a:p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Both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the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left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and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right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coronary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ostia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were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identified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and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marked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as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</a:t>
            </a:r>
            <a:r>
              <a:rPr lang="it-IT" sz="16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anatomical</a:t>
            </a:r>
            <a:r>
              <a:rPr lang="it-IT" sz="160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rPr>
              <a:t> landmarks.</a:t>
            </a:r>
            <a:endParaRPr lang="it-IT">
              <a:solidFill>
                <a:schemeClr val="tx1">
                  <a:lumMod val="65000"/>
                  <a:lumOff val="35000"/>
                </a:schemeClr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49591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78E30-9AAF-E5EE-E610-C2361FA5B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A8E00A7-FA54-7AA2-99BA-9290A8E1E8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361" y="411702"/>
            <a:ext cx="9923223" cy="483722"/>
          </a:xfrm>
        </p:spPr>
        <p:txBody>
          <a:bodyPr/>
          <a:lstStyle/>
          <a:p>
            <a:r>
              <a:rPr lang="it-IT"/>
              <a:t>Data </a:t>
            </a:r>
            <a:r>
              <a:rPr lang="it-IT" err="1"/>
              <a:t>conversion</a:t>
            </a:r>
            <a:endParaRPr lang="it-IT" sz="2800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88916DB4-7CCC-ACD4-9139-3A8A17FCC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3BA15-FBD2-4A06-BE22-2CD24AC2FD11}" type="slidenum">
              <a:rPr lang="it-IT" smtClean="0"/>
              <a:pPr/>
              <a:t>7</a:t>
            </a:fld>
            <a:endParaRPr lang="it-IT"/>
          </a:p>
        </p:txBody>
      </p:sp>
      <p:grpSp>
        <p:nvGrpSpPr>
          <p:cNvPr id="10" name="Google Shape;3228;p44">
            <a:extLst>
              <a:ext uri="{FF2B5EF4-FFF2-40B4-BE49-F238E27FC236}">
                <a16:creationId xmlns:a16="http://schemas.microsoft.com/office/drawing/2014/main" id="{993DA2D8-E2C8-42B3-D0BF-16C790FD3184}"/>
              </a:ext>
            </a:extLst>
          </p:cNvPr>
          <p:cNvGrpSpPr/>
          <p:nvPr/>
        </p:nvGrpSpPr>
        <p:grpSpPr>
          <a:xfrm>
            <a:off x="540878" y="3429000"/>
            <a:ext cx="10904177" cy="1203589"/>
            <a:chOff x="3433275" y="1272915"/>
            <a:chExt cx="7094769" cy="847200"/>
          </a:xfrm>
        </p:grpSpPr>
        <p:sp>
          <p:nvSpPr>
            <p:cNvPr id="12" name="Google Shape;3229;p44">
              <a:extLst>
                <a:ext uri="{FF2B5EF4-FFF2-40B4-BE49-F238E27FC236}">
                  <a16:creationId xmlns:a16="http://schemas.microsoft.com/office/drawing/2014/main" id="{14E1C972-4061-CD3B-98AB-4C4CA304F44C}"/>
                </a:ext>
              </a:extLst>
            </p:cNvPr>
            <p:cNvSpPr/>
            <p:nvPr/>
          </p:nvSpPr>
          <p:spPr>
            <a:xfrm rot="16200000">
              <a:off x="4153319" y="552871"/>
              <a:ext cx="847200" cy="228728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Google Shape;3230;p44">
              <a:extLst>
                <a:ext uri="{FF2B5EF4-FFF2-40B4-BE49-F238E27FC236}">
                  <a16:creationId xmlns:a16="http://schemas.microsoft.com/office/drawing/2014/main" id="{0AD93F89-A801-E841-2014-86DAABBBBE1A}"/>
                </a:ext>
              </a:extLst>
            </p:cNvPr>
            <p:cNvSpPr/>
            <p:nvPr/>
          </p:nvSpPr>
          <p:spPr>
            <a:xfrm>
              <a:off x="3706496" y="1503615"/>
              <a:ext cx="234906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33" tIns="36000" rIns="121900" bIns="0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r>
                <a:rPr lang="en-GB" sz="2400" b="1">
                  <a:solidFill>
                    <a:schemeClr val="accent4"/>
                  </a:solidFill>
                  <a:latin typeface="Poppins ExtraBold" panose="00000900000000000000" pitchFamily="2" charset="0"/>
                  <a:ea typeface="Fira Sans Extra Condensed"/>
                  <a:cs typeface="Poppins ExtraBold" panose="00000900000000000000" pitchFamily="2" charset="0"/>
                  <a:sym typeface="Fira Sans Extra Condensed"/>
                </a:rPr>
                <a:t>IMAGE</a:t>
              </a:r>
              <a:endParaRPr sz="2400" b="1">
                <a:solidFill>
                  <a:schemeClr val="accent4"/>
                </a:solidFill>
                <a:latin typeface="Poppins ExtraBold" panose="00000900000000000000" pitchFamily="2" charset="0"/>
                <a:ea typeface="Fira Sans Extra Condensed"/>
                <a:cs typeface="Poppins ExtraBold" panose="00000900000000000000" pitchFamily="2" charset="0"/>
                <a:sym typeface="Fira Sans Extra Condensed"/>
              </a:endParaRPr>
            </a:p>
          </p:txBody>
        </p:sp>
        <p:sp>
          <p:nvSpPr>
            <p:cNvPr id="16" name="Google Shape;3231;p44">
              <a:extLst>
                <a:ext uri="{FF2B5EF4-FFF2-40B4-BE49-F238E27FC236}">
                  <a16:creationId xmlns:a16="http://schemas.microsoft.com/office/drawing/2014/main" id="{C6EE4C79-E131-A0D0-2A56-DECD94721D67}"/>
                </a:ext>
              </a:extLst>
            </p:cNvPr>
            <p:cNvSpPr txBox="1"/>
            <p:nvPr/>
          </p:nvSpPr>
          <p:spPr>
            <a:xfrm>
              <a:off x="6347049" y="1429065"/>
              <a:ext cx="4180995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Each TC in .</a:t>
              </a:r>
              <a:r>
                <a:rPr lang="en-US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nii.gz</a:t>
              </a:r>
              <a:r>
                <a:rPr 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 format is converted in .</a:t>
              </a:r>
              <a:r>
                <a:rPr lang="en-US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nrrd</a:t>
              </a:r>
              <a:endParaRPr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  <a:sym typeface="Roboto"/>
              </a:endParaRPr>
            </a:p>
          </p:txBody>
        </p:sp>
      </p:grpSp>
      <p:grpSp>
        <p:nvGrpSpPr>
          <p:cNvPr id="17" name="Google Shape;3228;p44">
            <a:extLst>
              <a:ext uri="{FF2B5EF4-FFF2-40B4-BE49-F238E27FC236}">
                <a16:creationId xmlns:a16="http://schemas.microsoft.com/office/drawing/2014/main" id="{26B50774-CB42-5D89-0A11-AB0AB27C9D42}"/>
              </a:ext>
            </a:extLst>
          </p:cNvPr>
          <p:cNvGrpSpPr/>
          <p:nvPr/>
        </p:nvGrpSpPr>
        <p:grpSpPr>
          <a:xfrm>
            <a:off x="540881" y="1897661"/>
            <a:ext cx="10904170" cy="1203590"/>
            <a:chOff x="3433276" y="1272915"/>
            <a:chExt cx="7462685" cy="847200"/>
          </a:xfrm>
        </p:grpSpPr>
        <p:sp>
          <p:nvSpPr>
            <p:cNvPr id="18" name="Google Shape;3229;p44">
              <a:extLst>
                <a:ext uri="{FF2B5EF4-FFF2-40B4-BE49-F238E27FC236}">
                  <a16:creationId xmlns:a16="http://schemas.microsoft.com/office/drawing/2014/main" id="{0F0AC4FB-D36F-8394-5A87-0C8C08072F3A}"/>
                </a:ext>
              </a:extLst>
            </p:cNvPr>
            <p:cNvSpPr/>
            <p:nvPr/>
          </p:nvSpPr>
          <p:spPr>
            <a:xfrm rot="16200000">
              <a:off x="4121626" y="584565"/>
              <a:ext cx="847200" cy="2223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9C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3230;p44">
              <a:extLst>
                <a:ext uri="{FF2B5EF4-FFF2-40B4-BE49-F238E27FC236}">
                  <a16:creationId xmlns:a16="http://schemas.microsoft.com/office/drawing/2014/main" id="{CB6C5F4F-D7FE-B7A9-EAC4-BF8D3CFB372F}"/>
                </a:ext>
              </a:extLst>
            </p:cNvPr>
            <p:cNvSpPr/>
            <p:nvPr/>
          </p:nvSpPr>
          <p:spPr>
            <a:xfrm>
              <a:off x="3706496" y="1503615"/>
              <a:ext cx="2485045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5400" cap="flat" cmpd="sng">
              <a:solidFill>
                <a:srgbClr val="009C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33" tIns="36000" rIns="121900" bIns="0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r>
                <a:rPr lang="en-GB" sz="2400" b="1">
                  <a:solidFill>
                    <a:srgbClr val="009CDE"/>
                  </a:solidFill>
                  <a:latin typeface="Poppins ExtraBold" panose="00000900000000000000" pitchFamily="2" charset="0"/>
                  <a:ea typeface="Fira Sans Extra Condensed"/>
                  <a:cs typeface="Poppins ExtraBold" panose="00000900000000000000" pitchFamily="2" charset="0"/>
                  <a:sym typeface="Fira Sans Extra Condensed"/>
                </a:rPr>
                <a:t>LANDMARK</a:t>
              </a:r>
              <a:endParaRPr sz="2400" b="1">
                <a:solidFill>
                  <a:srgbClr val="009CDE"/>
                </a:solidFill>
                <a:latin typeface="Poppins ExtraBold" panose="00000900000000000000" pitchFamily="2" charset="0"/>
                <a:ea typeface="Fira Sans Extra Condensed"/>
                <a:cs typeface="Poppins ExtraBold" panose="00000900000000000000" pitchFamily="2" charset="0"/>
                <a:sym typeface="Fira Sans Extra Condensed"/>
              </a:endParaRPr>
            </a:p>
          </p:txBody>
        </p:sp>
        <p:sp>
          <p:nvSpPr>
            <p:cNvPr id="20" name="Google Shape;3231;p44">
              <a:extLst>
                <a:ext uri="{FF2B5EF4-FFF2-40B4-BE49-F238E27FC236}">
                  <a16:creationId xmlns:a16="http://schemas.microsoft.com/office/drawing/2014/main" id="{54B8E033-2A06-052A-B91D-C90BD5DF0766}"/>
                </a:ext>
              </a:extLst>
            </p:cNvPr>
            <p:cNvSpPr txBox="1"/>
            <p:nvPr/>
          </p:nvSpPr>
          <p:spPr>
            <a:xfrm>
              <a:off x="6498150" y="1285925"/>
              <a:ext cx="4397811" cy="834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Anatomical landmarks are converted from </a:t>
              </a:r>
            </a:p>
            <a:p>
              <a:pPr algn="ctr"/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mm to voxel using the image spacing. </a:t>
              </a:r>
              <a:endParaRPr lang="it-IT" dirty="0"/>
            </a:p>
            <a:p>
              <a:pPr algn="ctr"/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Landmarks from .</a:t>
              </a:r>
              <a:r>
                <a:rPr lang="en-US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json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 are transformed in .</a:t>
              </a:r>
              <a:r>
                <a:rPr lang="en-US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npy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 format.</a:t>
              </a:r>
              <a:endParaRPr lang="it-IT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</a:endParaRPr>
            </a:p>
          </p:txBody>
        </p:sp>
      </p:grpSp>
      <p:grpSp>
        <p:nvGrpSpPr>
          <p:cNvPr id="3" name="Google Shape;3228;p44">
            <a:extLst>
              <a:ext uri="{FF2B5EF4-FFF2-40B4-BE49-F238E27FC236}">
                <a16:creationId xmlns:a16="http://schemas.microsoft.com/office/drawing/2014/main" id="{AFC59F43-BC9A-A89E-59DC-82A2689F773B}"/>
              </a:ext>
            </a:extLst>
          </p:cNvPr>
          <p:cNvGrpSpPr/>
          <p:nvPr/>
        </p:nvGrpSpPr>
        <p:grpSpPr>
          <a:xfrm>
            <a:off x="540878" y="4960337"/>
            <a:ext cx="10904173" cy="1203589"/>
            <a:chOff x="3433275" y="1272915"/>
            <a:chExt cx="7094767" cy="847200"/>
          </a:xfrm>
        </p:grpSpPr>
        <p:sp>
          <p:nvSpPr>
            <p:cNvPr id="4" name="Google Shape;3229;p44">
              <a:extLst>
                <a:ext uri="{FF2B5EF4-FFF2-40B4-BE49-F238E27FC236}">
                  <a16:creationId xmlns:a16="http://schemas.microsoft.com/office/drawing/2014/main" id="{C876D421-3ABA-E504-E7A9-51C03F23872A}"/>
                </a:ext>
              </a:extLst>
            </p:cNvPr>
            <p:cNvSpPr/>
            <p:nvPr/>
          </p:nvSpPr>
          <p:spPr>
            <a:xfrm rot="16200000">
              <a:off x="4153319" y="552871"/>
              <a:ext cx="847200" cy="228728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FF0000"/>
                </a:solidFill>
              </a:endParaRPr>
            </a:p>
          </p:txBody>
        </p:sp>
        <p:sp>
          <p:nvSpPr>
            <p:cNvPr id="5" name="Google Shape;3230;p44">
              <a:extLst>
                <a:ext uri="{FF2B5EF4-FFF2-40B4-BE49-F238E27FC236}">
                  <a16:creationId xmlns:a16="http://schemas.microsoft.com/office/drawing/2014/main" id="{3434D0A2-C508-CF6F-15C5-05505AE1876F}"/>
                </a:ext>
              </a:extLst>
            </p:cNvPr>
            <p:cNvSpPr/>
            <p:nvPr/>
          </p:nvSpPr>
          <p:spPr>
            <a:xfrm>
              <a:off x="3706496" y="1503615"/>
              <a:ext cx="2349060" cy="385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33" tIns="36000" rIns="121900" bIns="0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r>
                <a:rPr lang="en-GB" sz="2400" b="1">
                  <a:solidFill>
                    <a:srgbClr val="FF0000"/>
                  </a:solidFill>
                  <a:latin typeface="Poppins ExtraBold" panose="00000900000000000000" pitchFamily="2" charset="0"/>
                  <a:ea typeface="Fira Sans Extra Condensed"/>
                  <a:cs typeface="Poppins ExtraBold" panose="00000900000000000000" pitchFamily="2" charset="0"/>
                  <a:sym typeface="Fira Sans Extra Condensed"/>
                </a:rPr>
                <a:t>TRAIN/TEST SPLIT</a:t>
              </a:r>
              <a:endParaRPr sz="2400" b="1">
                <a:solidFill>
                  <a:srgbClr val="FF0000"/>
                </a:solidFill>
                <a:latin typeface="Poppins ExtraBold" panose="00000900000000000000" pitchFamily="2" charset="0"/>
                <a:ea typeface="Fira Sans Extra Condensed"/>
                <a:cs typeface="Poppins ExtraBold" panose="00000900000000000000" pitchFamily="2" charset="0"/>
                <a:sym typeface="Fira Sans Extra Condensed"/>
              </a:endParaRPr>
            </a:p>
          </p:txBody>
        </p:sp>
        <p:sp>
          <p:nvSpPr>
            <p:cNvPr id="6" name="Google Shape;3231;p44">
              <a:extLst>
                <a:ext uri="{FF2B5EF4-FFF2-40B4-BE49-F238E27FC236}">
                  <a16:creationId xmlns:a16="http://schemas.microsoft.com/office/drawing/2014/main" id="{802D0BB4-D652-F51D-BD83-C503FAD787AD}"/>
                </a:ext>
              </a:extLst>
            </p:cNvPr>
            <p:cNvSpPr txBox="1"/>
            <p:nvPr/>
          </p:nvSpPr>
          <p:spPr>
            <a:xfrm>
              <a:off x="6347046" y="1429065"/>
              <a:ext cx="4180996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Poppins"/>
                  <a:cs typeface="Poppins"/>
                </a:rPr>
                <a:t>160 train set, 20 validation set, 20 test set</a:t>
              </a:r>
              <a:endParaRPr>
                <a:solidFill>
                  <a:schemeClr val="tx1">
                    <a:lumMod val="65000"/>
                    <a:lumOff val="35000"/>
                  </a:schemeClr>
                </a:solidFill>
                <a:latin typeface="Poppins"/>
                <a:cs typeface="Poppins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0194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 descr="Immagine che contiene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F42BCE49-C7AF-C4C0-D2DE-6E2188B67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58" y="3302855"/>
            <a:ext cx="5269781" cy="2610265"/>
          </a:xfrm>
          <a:prstGeom prst="rect">
            <a:avLst/>
          </a:prstGeom>
        </p:spPr>
      </p:pic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8FFE7F53-E296-0E96-2E43-2BC50AA17F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5862" y="1634196"/>
            <a:ext cx="7360402" cy="441779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it-IT" sz="1600" b="1"/>
              <a:t>Architecture:</a:t>
            </a:r>
            <a:r>
              <a:rPr lang="it-IT" sz="1600"/>
              <a:t> </a:t>
            </a:r>
            <a:r>
              <a:rPr lang="it-IT" sz="1600" err="1"/>
              <a:t>PBiFormer-Unet</a:t>
            </a:r>
            <a:endParaRPr lang="it-IT" sz="160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it-IT" sz="1600" b="1"/>
              <a:t>Loss </a:t>
            </a:r>
            <a:r>
              <a:rPr lang="it-IT" sz="1600" b="1" err="1"/>
              <a:t>Function</a:t>
            </a:r>
            <a:r>
              <a:rPr lang="it-IT" sz="1600" b="1"/>
              <a:t>:</a:t>
            </a:r>
            <a:r>
              <a:rPr lang="it-IT" sz="1600"/>
              <a:t> HNM + </a:t>
            </a:r>
            <a:r>
              <a:rPr lang="it-IT" sz="1600" err="1"/>
              <a:t>Propagation</a:t>
            </a:r>
            <a:r>
              <a:rPr lang="it-IT" sz="1600"/>
              <a:t> </a:t>
            </a:r>
            <a:r>
              <a:rPr lang="it-IT" sz="1600" err="1"/>
              <a:t>Map</a:t>
            </a:r>
            <a:endParaRPr lang="it-IT" sz="160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it-IT" sz="1600" b="1" err="1"/>
              <a:t>Optimizer</a:t>
            </a:r>
            <a:r>
              <a:rPr lang="it-IT" sz="1600" b="1"/>
              <a:t>:</a:t>
            </a:r>
            <a:r>
              <a:rPr lang="it-IT" sz="1600"/>
              <a:t> Adam (learning rate: 0.001, weight </a:t>
            </a:r>
            <a:r>
              <a:rPr lang="it-IT" sz="1600" err="1"/>
              <a:t>decay</a:t>
            </a:r>
            <a:r>
              <a:rPr lang="it-IT" sz="1600"/>
              <a:t>: 0.0005)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it-IT" sz="1600" b="1"/>
              <a:t>Batch Size:</a:t>
            </a:r>
            <a:r>
              <a:rPr lang="it-IT" sz="1600"/>
              <a:t> 4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it-IT" sz="1600" b="1" err="1"/>
              <a:t>Epochs</a:t>
            </a:r>
            <a:r>
              <a:rPr lang="it-IT" sz="1600" b="1"/>
              <a:t>:</a:t>
            </a:r>
            <a:r>
              <a:rPr lang="it-IT" sz="1600"/>
              <a:t> 200 (</a:t>
            </a:r>
            <a:r>
              <a:rPr lang="it-IT" sz="1600" err="1"/>
              <a:t>early</a:t>
            </a:r>
            <a:r>
              <a:rPr lang="it-IT" sz="1600"/>
              <a:t> </a:t>
            </a:r>
            <a:r>
              <a:rPr lang="it-IT" sz="1600" err="1"/>
              <a:t>stopping</a:t>
            </a:r>
            <a:r>
              <a:rPr lang="it-IT" sz="1600"/>
              <a:t> after 20 </a:t>
            </a:r>
            <a:r>
              <a:rPr lang="it-IT" sz="1600" err="1"/>
              <a:t>epochs</a:t>
            </a:r>
            <a:r>
              <a:rPr lang="it-IT" sz="1600"/>
              <a:t> </a:t>
            </a:r>
            <a:r>
              <a:rPr lang="it-IT" sz="1600" err="1"/>
              <a:t>without</a:t>
            </a:r>
            <a:r>
              <a:rPr lang="it-IT" sz="1600"/>
              <a:t> </a:t>
            </a:r>
            <a:r>
              <a:rPr lang="it-IT" sz="1600" err="1"/>
              <a:t>improvement</a:t>
            </a:r>
            <a:r>
              <a:rPr lang="it-IT" sz="1600"/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it-IT" sz="1600" b="1"/>
              <a:t>Anchors:</a:t>
            </a:r>
            <a:r>
              <a:rPr lang="it-IT" sz="1600"/>
              <a:t> [0.5, 0.75, 1.0, 1.25]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it-IT" sz="1600" b="1" err="1"/>
              <a:t>Shrink</a:t>
            </a:r>
            <a:r>
              <a:rPr lang="it-IT" sz="1600" b="1"/>
              <a:t> </a:t>
            </a:r>
            <a:r>
              <a:rPr lang="it-IT" sz="1600" b="1" err="1"/>
              <a:t>Factor</a:t>
            </a:r>
            <a:r>
              <a:rPr lang="it-IT" sz="1600" b="1"/>
              <a:t>:</a:t>
            </a:r>
            <a:r>
              <a:rPr lang="it-IT" sz="1600"/>
              <a:t> 4</a:t>
            </a:r>
          </a:p>
          <a:p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/>
              <a:t>The training </a:t>
            </a:r>
            <a:r>
              <a:rPr lang="it-IT" sz="1600" err="1"/>
              <a:t>loss</a:t>
            </a:r>
            <a:r>
              <a:rPr lang="it-IT" sz="1600"/>
              <a:t> </a:t>
            </a:r>
            <a:r>
              <a:rPr lang="it-IT" sz="1600" err="1"/>
              <a:t>decreased</a:t>
            </a:r>
            <a:r>
              <a:rPr lang="it-IT" sz="1600"/>
              <a:t> </a:t>
            </a:r>
            <a:r>
              <a:rPr lang="it-IT" sz="1600" err="1"/>
              <a:t>rapidly</a:t>
            </a:r>
            <a:r>
              <a:rPr lang="it-IT" sz="1600"/>
              <a:t> in the first </a:t>
            </a:r>
            <a:r>
              <a:rPr lang="it-IT" sz="1600" err="1"/>
              <a:t>epochs</a:t>
            </a:r>
            <a:r>
              <a:rPr lang="it-IT" sz="1600"/>
              <a:t>, </a:t>
            </a:r>
            <a:br>
              <a:rPr lang="it-IT" sz="1600"/>
            </a:br>
            <a:r>
              <a:rPr lang="it-IT" sz="1600" err="1"/>
              <a:t>then</a:t>
            </a:r>
            <a:r>
              <a:rPr lang="it-IT" sz="1600"/>
              <a:t> </a:t>
            </a:r>
            <a:r>
              <a:rPr lang="it-IT" sz="1600" err="1"/>
              <a:t>gradually</a:t>
            </a:r>
            <a:r>
              <a:rPr lang="it-IT" sz="1600"/>
              <a:t> </a:t>
            </a:r>
            <a:r>
              <a:rPr lang="it-IT" sz="1600" err="1"/>
              <a:t>stabilized</a:t>
            </a:r>
            <a:r>
              <a:rPr lang="it-IT" sz="16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/>
              <a:t>The </a:t>
            </a:r>
            <a:r>
              <a:rPr lang="it-IT" sz="1600" err="1"/>
              <a:t>validation</a:t>
            </a:r>
            <a:r>
              <a:rPr lang="it-IT" sz="1600"/>
              <a:t> </a:t>
            </a:r>
            <a:r>
              <a:rPr lang="it-IT" sz="1600" err="1"/>
              <a:t>loss</a:t>
            </a:r>
            <a:r>
              <a:rPr lang="it-IT" sz="1600"/>
              <a:t> </a:t>
            </a:r>
            <a:r>
              <a:rPr lang="it-IT" sz="1600" err="1"/>
              <a:t>showed</a:t>
            </a:r>
            <a:r>
              <a:rPr lang="it-IT" sz="1600"/>
              <a:t> </a:t>
            </a:r>
            <a:r>
              <a:rPr lang="it-IT" sz="1600" err="1"/>
              <a:t>fluctuations</a:t>
            </a:r>
            <a:r>
              <a:rPr lang="it-IT" sz="1600"/>
              <a:t>, </a:t>
            </a:r>
            <a:br>
              <a:rPr lang="it-IT" sz="1600"/>
            </a:br>
            <a:r>
              <a:rPr lang="it-IT" sz="1600" err="1"/>
              <a:t>indicating</a:t>
            </a:r>
            <a:r>
              <a:rPr lang="it-IT" sz="1600"/>
              <a:t> </a:t>
            </a:r>
            <a:r>
              <a:rPr lang="it-IT" sz="1600" err="1"/>
              <a:t>overfitting</a:t>
            </a:r>
            <a:r>
              <a:rPr lang="it-IT" sz="1600"/>
              <a:t> risks in some </a:t>
            </a:r>
            <a:r>
              <a:rPr lang="it-IT" sz="1600" err="1"/>
              <a:t>phases</a:t>
            </a:r>
            <a:r>
              <a:rPr lang="it-IT" sz="1600"/>
              <a:t>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991847D-6A32-825E-9EBC-61B0B9EC3C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56264" y="6051988"/>
            <a:ext cx="4044875" cy="477905"/>
          </a:xfrm>
        </p:spPr>
        <p:txBody>
          <a:bodyPr/>
          <a:lstStyle/>
          <a:p>
            <a:r>
              <a:rPr lang="it-IT"/>
              <a:t>Loss per </a:t>
            </a:r>
            <a:r>
              <a:rPr lang="it-IT" err="1"/>
              <a:t>epoch</a:t>
            </a:r>
            <a:r>
              <a:rPr lang="it-IT"/>
              <a:t> – training vs </a:t>
            </a:r>
            <a:r>
              <a:rPr lang="it-IT" err="1"/>
              <a:t>validation</a:t>
            </a:r>
            <a:endParaRPr lang="it-IT"/>
          </a:p>
          <a:p>
            <a:endParaRPr lang="en-US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83303F7B-8D1A-233E-A2B4-2F0B6F98C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83BA15-FBD2-4A06-BE22-2CD24AC2FD11}" type="slidenum">
              <a:rPr lang="it-IT" smtClean="0"/>
              <a:pPr>
                <a:spcAft>
                  <a:spcPts val="600"/>
                </a:spcAft>
              </a:pPr>
              <a:t>8</a:t>
            </a:fld>
            <a:endParaRPr lang="it-IT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6A17DECF-2618-9E0F-20D6-C020C5A2B4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361" y="411702"/>
            <a:ext cx="9923223" cy="849722"/>
          </a:xfrm>
        </p:spPr>
        <p:txBody>
          <a:bodyPr anchor="t">
            <a:normAutofit/>
          </a:bodyPr>
          <a:lstStyle/>
          <a:p>
            <a:r>
              <a:rPr lang="it-IT"/>
              <a:t>Model Training </a:t>
            </a:r>
            <a:r>
              <a:rPr lang="it-IT" err="1"/>
              <a:t>Overview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524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7C7F3FAB-694C-A41D-9A28-3A40BF4FBB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3821" y="1895115"/>
            <a:ext cx="5722937" cy="4486636"/>
          </a:xfrm>
        </p:spPr>
        <p:txBody>
          <a:bodyPr>
            <a:normAutofit/>
          </a:bodyPr>
          <a:lstStyle/>
          <a:p>
            <a:r>
              <a:rPr lang="it-IT" b="1"/>
              <a:t>Mean </a:t>
            </a:r>
            <a:r>
              <a:rPr lang="it-IT" b="1" err="1"/>
              <a:t>Radial</a:t>
            </a:r>
            <a:r>
              <a:rPr lang="it-IT" b="1"/>
              <a:t> </a:t>
            </a:r>
            <a:r>
              <a:rPr lang="it-IT" b="1" err="1"/>
              <a:t>Error</a:t>
            </a:r>
            <a:r>
              <a:rPr lang="it-IT" b="1"/>
              <a:t> (MRE):</a:t>
            </a:r>
            <a:r>
              <a:rPr lang="it-IT"/>
              <a:t> 11.78 mm</a:t>
            </a:r>
          </a:p>
          <a:p>
            <a:r>
              <a:rPr lang="it-IT" b="1"/>
              <a:t>Standard </a:t>
            </a:r>
            <a:r>
              <a:rPr lang="it-IT" b="1" err="1"/>
              <a:t>Deviation</a:t>
            </a:r>
            <a:r>
              <a:rPr lang="it-IT" b="1"/>
              <a:t> (SD):</a:t>
            </a:r>
            <a:r>
              <a:rPr lang="it-IT"/>
              <a:t> 4.60 mm</a:t>
            </a:r>
          </a:p>
          <a:p>
            <a:r>
              <a:rPr lang="it-IT" b="1" err="1"/>
              <a:t>Accuracy</a:t>
            </a:r>
            <a:r>
              <a:rPr lang="it-IT" b="1"/>
              <a:t> </a:t>
            </a:r>
            <a:r>
              <a:rPr lang="it-IT" b="1" err="1"/>
              <a:t>within</a:t>
            </a:r>
            <a:r>
              <a:rPr lang="it-IT" b="1"/>
              <a:t> </a:t>
            </a:r>
            <a:r>
              <a:rPr lang="it-IT" b="1" err="1"/>
              <a:t>tolerance</a:t>
            </a:r>
            <a:r>
              <a:rPr lang="it-IT" b="1"/>
              <a:t>:</a:t>
            </a:r>
            <a:endParaRPr lang="it-IT"/>
          </a:p>
          <a:p>
            <a:r>
              <a:rPr lang="it-IT"/>
              <a:t>≤ 2.0 mm: 0%</a:t>
            </a:r>
          </a:p>
          <a:p>
            <a:r>
              <a:rPr lang="it-IT"/>
              <a:t>≤ 2.5 mm: 0%</a:t>
            </a:r>
          </a:p>
          <a:p>
            <a:r>
              <a:rPr lang="it-IT"/>
              <a:t>≤ 3.0 mm: 1.7%</a:t>
            </a:r>
          </a:p>
          <a:p>
            <a:r>
              <a:rPr lang="it-IT"/>
              <a:t>≤ 4.0 mm: 5.0%</a:t>
            </a:r>
          </a:p>
          <a:p>
            <a:endParaRPr lang="en-US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4FA82353-1C81-9C32-E492-74D4FBE91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529" y="6381750"/>
            <a:ext cx="1030941" cy="4762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83BA15-FBD2-4A06-BE22-2CD24AC2FD11}" type="slidenum">
              <a:rPr lang="it-IT" smtClean="0"/>
              <a:pPr>
                <a:spcAft>
                  <a:spcPts val="600"/>
                </a:spcAft>
              </a:pPr>
              <a:t>9</a:t>
            </a:fld>
            <a:endParaRPr lang="it-IT"/>
          </a:p>
        </p:txBody>
      </p:sp>
      <p:pic>
        <p:nvPicPr>
          <p:cNvPr id="11" name="Segnaposto immagine 10" descr="Immagine che contiene Diagramma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EE8FB56B-000F-B4DA-364F-C8F4D34BDD2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/>
          <a:srcRect l="-1430" t="-1707" r="-547" b="-2244"/>
          <a:stretch>
            <a:fillRect/>
          </a:stretch>
        </p:blipFill>
        <p:spPr>
          <a:xfrm>
            <a:off x="4240020" y="2600697"/>
            <a:ext cx="7685656" cy="3409960"/>
          </a:xfrm>
          <a:noFill/>
        </p:spPr>
      </p:pic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39932905-4334-71AD-48C6-0CD6DE9462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821" y="411701"/>
            <a:ext cx="7286381" cy="1191187"/>
          </a:xfrm>
        </p:spPr>
        <p:txBody>
          <a:bodyPr anchor="t">
            <a:normAutofit/>
          </a:bodyPr>
          <a:lstStyle/>
          <a:p>
            <a:r>
              <a:rPr lang="it-IT" b="0">
                <a:solidFill>
                  <a:schemeClr val="accent2"/>
                </a:solidFill>
              </a:rPr>
              <a:t>Model Performance </a:t>
            </a:r>
            <a:r>
              <a:rPr lang="it-IT" b="0" err="1">
                <a:solidFill>
                  <a:schemeClr val="accent2"/>
                </a:solidFill>
              </a:rPr>
              <a:t>Summary</a:t>
            </a:r>
            <a:endParaRPr lang="it-IT" b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495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2EB48B09-54A6-43B0-896D-9137324A32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err="1"/>
              <a:t>Identified</a:t>
            </a:r>
            <a:r>
              <a:rPr lang="it-IT"/>
              <a:t> </a:t>
            </a:r>
            <a:r>
              <a:rPr lang="it-IT" err="1"/>
              <a:t>Issues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12B53BF-BACA-564C-918E-FCF4B557BC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it-IT" b="1">
                <a:solidFill>
                  <a:schemeClr val="accent1"/>
                </a:solidFill>
              </a:rPr>
              <a:t>PATCH EXTRACTION</a:t>
            </a:r>
            <a:endParaRPr lang="it-IT"/>
          </a:p>
          <a:p>
            <a:pPr algn="just"/>
            <a:r>
              <a:rPr lang="en-US"/>
              <a:t>The original H3DE-Net training was designed for </a:t>
            </a:r>
            <a:r>
              <a:rPr lang="en-US" err="1"/>
              <a:t>mandibular</a:t>
            </a:r>
            <a:r>
              <a:rPr lang="en-US"/>
              <a:t> CT scans, where the anatomical region of interest is typically located at the center of the volume. In coronary CT scans, however, the right and left coronary </a:t>
            </a:r>
            <a:r>
              <a:rPr lang="en-US" err="1"/>
              <a:t>ostia</a:t>
            </a:r>
            <a:r>
              <a:rPr lang="en-US"/>
              <a:t> are often off-center. As a result, the original cropping method, which extracted patches centered in the middle of the volume, frequently excluded the coronary </a:t>
            </a:r>
            <a:r>
              <a:rPr lang="en-US" err="1"/>
              <a:t>ostia</a:t>
            </a:r>
            <a:r>
              <a:rPr lang="en-US"/>
              <a:t>.</a:t>
            </a:r>
            <a:endParaRPr lang="it-IT"/>
          </a:p>
          <a:p>
            <a:pPr marL="457200" indent="-457200">
              <a:buAutoNum type="arabicPeriod"/>
            </a:pPr>
            <a:endParaRPr lang="en-GB"/>
          </a:p>
          <a:p>
            <a:pPr marL="457200" indent="-457200">
              <a:buAutoNum type="arabicPeriod"/>
            </a:pPr>
            <a:endParaRPr lang="it-IT"/>
          </a:p>
          <a:p>
            <a:r>
              <a:rPr lang="it-IT" b="1">
                <a:solidFill>
                  <a:schemeClr val="accent2"/>
                </a:solidFill>
              </a:rPr>
              <a:t>DATA LOADING INEFFICIENCY </a:t>
            </a:r>
          </a:p>
          <a:p>
            <a:r>
              <a:rPr lang="en-US"/>
              <a:t>Multiple file formats led to slow and error-prone data loading during training.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D5FC136-8B72-3046-9101-63EFBF555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3BA15-FBD2-4A06-BE22-2CD24AC2FD11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9245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8A6146EE-C2E3-46D0-B01B-303648874C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err="1"/>
              <a:t>Solutions</a:t>
            </a:r>
            <a:endParaRPr lang="it-IT"/>
          </a:p>
        </p:txBody>
      </p:sp>
      <p:sp>
        <p:nvSpPr>
          <p:cNvPr id="15" name="Segnaposto numero diapositiva 14">
            <a:extLst>
              <a:ext uri="{FF2B5EF4-FFF2-40B4-BE49-F238E27FC236}">
                <a16:creationId xmlns:a16="http://schemas.microsoft.com/office/drawing/2014/main" id="{6C3AF01C-383E-2347-926B-FDAC1D4F1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3BA15-FBD2-4A06-BE22-2CD24AC2FD11}" type="slidenum">
              <a:rPr lang="it-IT" smtClean="0"/>
              <a:pPr/>
              <a:t>11</a:t>
            </a:fld>
            <a:endParaRPr lang="it-IT"/>
          </a:p>
        </p:txBody>
      </p:sp>
      <p:grpSp>
        <p:nvGrpSpPr>
          <p:cNvPr id="28" name="Group 3">
            <a:extLst>
              <a:ext uri="{FF2B5EF4-FFF2-40B4-BE49-F238E27FC236}">
                <a16:creationId xmlns:a16="http://schemas.microsoft.com/office/drawing/2014/main" id="{D81FAE1C-EAF5-AA4B-933B-1CDB01DA128E}"/>
              </a:ext>
            </a:extLst>
          </p:cNvPr>
          <p:cNvGrpSpPr/>
          <p:nvPr/>
        </p:nvGrpSpPr>
        <p:grpSpPr>
          <a:xfrm>
            <a:off x="4665528" y="1625343"/>
            <a:ext cx="2477786" cy="4392488"/>
            <a:chOff x="545790" y="1772816"/>
            <a:chExt cx="2477786" cy="4392488"/>
          </a:xfrm>
        </p:grpSpPr>
        <p:sp>
          <p:nvSpPr>
            <p:cNvPr id="29" name="Freeform 4">
              <a:extLst>
                <a:ext uri="{FF2B5EF4-FFF2-40B4-BE49-F238E27FC236}">
                  <a16:creationId xmlns:a16="http://schemas.microsoft.com/office/drawing/2014/main" id="{543708B0-3F32-E142-8666-9A6B5BAF5492}"/>
                </a:ext>
              </a:extLst>
            </p:cNvPr>
            <p:cNvSpPr/>
            <p:nvPr/>
          </p:nvSpPr>
          <p:spPr>
            <a:xfrm>
              <a:off x="545790" y="2539386"/>
              <a:ext cx="223091" cy="331620"/>
            </a:xfrm>
            <a:custGeom>
              <a:avLst/>
              <a:gdLst>
                <a:gd name="connsiteX0" fmla="*/ 0 w 153090"/>
                <a:gd name="connsiteY0" fmla="*/ 0 h 227565"/>
                <a:gd name="connsiteX1" fmla="*/ 153090 w 153090"/>
                <a:gd name="connsiteY1" fmla="*/ 4137 h 227565"/>
                <a:gd name="connsiteX2" fmla="*/ 148952 w 153090"/>
                <a:gd name="connsiteY2" fmla="*/ 227565 h 227565"/>
                <a:gd name="connsiteX3" fmla="*/ 0 w 153090"/>
                <a:gd name="connsiteY3" fmla="*/ 0 h 227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090" h="227565">
                  <a:moveTo>
                    <a:pt x="0" y="0"/>
                  </a:moveTo>
                  <a:lnTo>
                    <a:pt x="153090" y="4137"/>
                  </a:lnTo>
                  <a:cubicBezTo>
                    <a:pt x="151711" y="78613"/>
                    <a:pt x="150331" y="153089"/>
                    <a:pt x="148952" y="22756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" name="Rounded Rectangle 5">
              <a:extLst>
                <a:ext uri="{FF2B5EF4-FFF2-40B4-BE49-F238E27FC236}">
                  <a16:creationId xmlns:a16="http://schemas.microsoft.com/office/drawing/2014/main" id="{F5D47496-1569-844A-98F9-DB0E5A35656B}"/>
                </a:ext>
              </a:extLst>
            </p:cNvPr>
            <p:cNvSpPr/>
            <p:nvPr/>
          </p:nvSpPr>
          <p:spPr>
            <a:xfrm>
              <a:off x="755576" y="1917304"/>
              <a:ext cx="2267824" cy="4248000"/>
            </a:xfrm>
            <a:prstGeom prst="roundRect">
              <a:avLst>
                <a:gd name="adj" fmla="val 13624"/>
              </a:avLst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1" name="Round Same Side Corner Rectangle 6">
              <a:extLst>
                <a:ext uri="{FF2B5EF4-FFF2-40B4-BE49-F238E27FC236}">
                  <a16:creationId xmlns:a16="http://schemas.microsoft.com/office/drawing/2014/main" id="{224CC3BD-1523-0646-9A23-3AD78690890F}"/>
                </a:ext>
              </a:extLst>
            </p:cNvPr>
            <p:cNvSpPr/>
            <p:nvPr/>
          </p:nvSpPr>
          <p:spPr>
            <a:xfrm rot="10800000">
              <a:off x="755576" y="5616546"/>
              <a:ext cx="2268000" cy="54875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2" name="Right Arrow 7">
              <a:extLst>
                <a:ext uri="{FF2B5EF4-FFF2-40B4-BE49-F238E27FC236}">
                  <a16:creationId xmlns:a16="http://schemas.microsoft.com/office/drawing/2014/main" id="{733961F1-DA25-2D43-BA9B-BDB4FB0AA373}"/>
                </a:ext>
              </a:extLst>
            </p:cNvPr>
            <p:cNvSpPr/>
            <p:nvPr/>
          </p:nvSpPr>
          <p:spPr>
            <a:xfrm>
              <a:off x="545790" y="1772816"/>
              <a:ext cx="2194560" cy="1032529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3" name="Group 62">
            <a:extLst>
              <a:ext uri="{FF2B5EF4-FFF2-40B4-BE49-F238E27FC236}">
                <a16:creationId xmlns:a16="http://schemas.microsoft.com/office/drawing/2014/main" id="{9FC8D0BC-6F79-154C-A3C7-53373A883BE3}"/>
              </a:ext>
            </a:extLst>
          </p:cNvPr>
          <p:cNvGrpSpPr/>
          <p:nvPr/>
        </p:nvGrpSpPr>
        <p:grpSpPr>
          <a:xfrm>
            <a:off x="1750454" y="1625343"/>
            <a:ext cx="2477786" cy="4392488"/>
            <a:chOff x="545790" y="1772816"/>
            <a:chExt cx="2477786" cy="4392488"/>
          </a:xfrm>
        </p:grpSpPr>
        <p:sp>
          <p:nvSpPr>
            <p:cNvPr id="34" name="Freeform 4">
              <a:extLst>
                <a:ext uri="{FF2B5EF4-FFF2-40B4-BE49-F238E27FC236}">
                  <a16:creationId xmlns:a16="http://schemas.microsoft.com/office/drawing/2014/main" id="{192474FA-9DDB-A240-B635-EA17806AF7E8}"/>
                </a:ext>
              </a:extLst>
            </p:cNvPr>
            <p:cNvSpPr/>
            <p:nvPr/>
          </p:nvSpPr>
          <p:spPr>
            <a:xfrm>
              <a:off x="545790" y="2539386"/>
              <a:ext cx="223091" cy="331620"/>
            </a:xfrm>
            <a:custGeom>
              <a:avLst/>
              <a:gdLst>
                <a:gd name="connsiteX0" fmla="*/ 0 w 153090"/>
                <a:gd name="connsiteY0" fmla="*/ 0 h 227565"/>
                <a:gd name="connsiteX1" fmla="*/ 153090 w 153090"/>
                <a:gd name="connsiteY1" fmla="*/ 4137 h 227565"/>
                <a:gd name="connsiteX2" fmla="*/ 148952 w 153090"/>
                <a:gd name="connsiteY2" fmla="*/ 227565 h 227565"/>
                <a:gd name="connsiteX3" fmla="*/ 0 w 153090"/>
                <a:gd name="connsiteY3" fmla="*/ 0 h 227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090" h="227565">
                  <a:moveTo>
                    <a:pt x="0" y="0"/>
                  </a:moveTo>
                  <a:lnTo>
                    <a:pt x="153090" y="4137"/>
                  </a:lnTo>
                  <a:cubicBezTo>
                    <a:pt x="151711" y="78613"/>
                    <a:pt x="150331" y="153089"/>
                    <a:pt x="148952" y="22756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5" name="Rounded Rectangle 5">
              <a:extLst>
                <a:ext uri="{FF2B5EF4-FFF2-40B4-BE49-F238E27FC236}">
                  <a16:creationId xmlns:a16="http://schemas.microsoft.com/office/drawing/2014/main" id="{0F546ADA-2094-C944-A65F-CC1FB2E82FE8}"/>
                </a:ext>
              </a:extLst>
            </p:cNvPr>
            <p:cNvSpPr/>
            <p:nvPr/>
          </p:nvSpPr>
          <p:spPr>
            <a:xfrm>
              <a:off x="755576" y="1917304"/>
              <a:ext cx="2267824" cy="4248000"/>
            </a:xfrm>
            <a:prstGeom prst="roundRect">
              <a:avLst>
                <a:gd name="adj" fmla="val 13624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6" name="Round Same Side Corner Rectangle 6">
              <a:extLst>
                <a:ext uri="{FF2B5EF4-FFF2-40B4-BE49-F238E27FC236}">
                  <a16:creationId xmlns:a16="http://schemas.microsoft.com/office/drawing/2014/main" id="{89EA40DE-F853-464E-A1D8-5572B5D89C49}"/>
                </a:ext>
              </a:extLst>
            </p:cNvPr>
            <p:cNvSpPr/>
            <p:nvPr/>
          </p:nvSpPr>
          <p:spPr>
            <a:xfrm rot="10800000">
              <a:off x="755576" y="5616546"/>
              <a:ext cx="2268000" cy="54875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7" name="Right Arrow 7">
              <a:extLst>
                <a:ext uri="{FF2B5EF4-FFF2-40B4-BE49-F238E27FC236}">
                  <a16:creationId xmlns:a16="http://schemas.microsoft.com/office/drawing/2014/main" id="{6D635D77-AC06-DA47-97D4-B411D946A042}"/>
                </a:ext>
              </a:extLst>
            </p:cNvPr>
            <p:cNvSpPr/>
            <p:nvPr/>
          </p:nvSpPr>
          <p:spPr>
            <a:xfrm>
              <a:off x="545790" y="1772816"/>
              <a:ext cx="2194560" cy="1032529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38" name="Group 7">
            <a:extLst>
              <a:ext uri="{FF2B5EF4-FFF2-40B4-BE49-F238E27FC236}">
                <a16:creationId xmlns:a16="http://schemas.microsoft.com/office/drawing/2014/main" id="{FDD61D59-C82A-DB4F-8575-563AB3A0CDD3}"/>
              </a:ext>
            </a:extLst>
          </p:cNvPr>
          <p:cNvGrpSpPr/>
          <p:nvPr/>
        </p:nvGrpSpPr>
        <p:grpSpPr>
          <a:xfrm>
            <a:off x="7576039" y="1625343"/>
            <a:ext cx="2477786" cy="4392488"/>
            <a:chOff x="545790" y="1772816"/>
            <a:chExt cx="2477786" cy="4392488"/>
          </a:xfrm>
        </p:grpSpPr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D2587B6B-102C-C543-82F2-9C4FB401112D}"/>
                </a:ext>
              </a:extLst>
            </p:cNvPr>
            <p:cNvSpPr/>
            <p:nvPr/>
          </p:nvSpPr>
          <p:spPr>
            <a:xfrm>
              <a:off x="545790" y="2539386"/>
              <a:ext cx="223091" cy="331620"/>
            </a:xfrm>
            <a:custGeom>
              <a:avLst/>
              <a:gdLst>
                <a:gd name="connsiteX0" fmla="*/ 0 w 153090"/>
                <a:gd name="connsiteY0" fmla="*/ 0 h 227565"/>
                <a:gd name="connsiteX1" fmla="*/ 153090 w 153090"/>
                <a:gd name="connsiteY1" fmla="*/ 4137 h 227565"/>
                <a:gd name="connsiteX2" fmla="*/ 148952 w 153090"/>
                <a:gd name="connsiteY2" fmla="*/ 227565 h 227565"/>
                <a:gd name="connsiteX3" fmla="*/ 0 w 153090"/>
                <a:gd name="connsiteY3" fmla="*/ 0 h 227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090" h="227565">
                  <a:moveTo>
                    <a:pt x="0" y="0"/>
                  </a:moveTo>
                  <a:lnTo>
                    <a:pt x="153090" y="4137"/>
                  </a:lnTo>
                  <a:cubicBezTo>
                    <a:pt x="151711" y="78613"/>
                    <a:pt x="150331" y="153089"/>
                    <a:pt x="148952" y="22756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0" name="Rounded Rectangle 10">
              <a:extLst>
                <a:ext uri="{FF2B5EF4-FFF2-40B4-BE49-F238E27FC236}">
                  <a16:creationId xmlns:a16="http://schemas.microsoft.com/office/drawing/2014/main" id="{1514F995-3805-1040-9B14-82DA62B88AD6}"/>
                </a:ext>
              </a:extLst>
            </p:cNvPr>
            <p:cNvSpPr/>
            <p:nvPr/>
          </p:nvSpPr>
          <p:spPr>
            <a:xfrm>
              <a:off x="755576" y="1917304"/>
              <a:ext cx="2267824" cy="4248000"/>
            </a:xfrm>
            <a:prstGeom prst="roundRect">
              <a:avLst>
                <a:gd name="adj" fmla="val 13624"/>
              </a:avLst>
            </a:prstGeom>
            <a:solidFill>
              <a:schemeClr val="accent4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1" name="Round Same Side Corner Rectangle 11">
              <a:extLst>
                <a:ext uri="{FF2B5EF4-FFF2-40B4-BE49-F238E27FC236}">
                  <a16:creationId xmlns:a16="http://schemas.microsoft.com/office/drawing/2014/main" id="{84EFD4D6-62CE-354C-903C-5A03C32E035C}"/>
                </a:ext>
              </a:extLst>
            </p:cNvPr>
            <p:cNvSpPr/>
            <p:nvPr/>
          </p:nvSpPr>
          <p:spPr>
            <a:xfrm rot="10800000">
              <a:off x="755576" y="5616546"/>
              <a:ext cx="2268000" cy="54875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2" name="Right Arrow 12">
              <a:extLst>
                <a:ext uri="{FF2B5EF4-FFF2-40B4-BE49-F238E27FC236}">
                  <a16:creationId xmlns:a16="http://schemas.microsoft.com/office/drawing/2014/main" id="{58F3FD16-EEED-9745-B501-6F12F33F839B}"/>
                </a:ext>
              </a:extLst>
            </p:cNvPr>
            <p:cNvSpPr/>
            <p:nvPr/>
          </p:nvSpPr>
          <p:spPr>
            <a:xfrm>
              <a:off x="545790" y="1772816"/>
              <a:ext cx="2194560" cy="1032529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48" name="Segnaposto testo 11">
            <a:extLst>
              <a:ext uri="{FF2B5EF4-FFF2-40B4-BE49-F238E27FC236}">
                <a16:creationId xmlns:a16="http://schemas.microsoft.com/office/drawing/2014/main" id="{D0DD00BC-08BA-5C42-B513-591FF113AD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46954" y="1984040"/>
            <a:ext cx="1999418" cy="31513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it-IT"/>
              <a:t>Patch </a:t>
            </a:r>
            <a:r>
              <a:rPr lang="it-IT" err="1"/>
              <a:t>extraction</a:t>
            </a:r>
            <a:endParaRPr lang="it-IT"/>
          </a:p>
          <a:p>
            <a:endParaRPr lang="it-IT"/>
          </a:p>
        </p:txBody>
      </p:sp>
      <p:sp>
        <p:nvSpPr>
          <p:cNvPr id="49" name="Segnaposto testo 11">
            <a:extLst>
              <a:ext uri="{FF2B5EF4-FFF2-40B4-BE49-F238E27FC236}">
                <a16:creationId xmlns:a16="http://schemas.microsoft.com/office/drawing/2014/main" id="{E7BED9B0-BE2A-DF40-A5AD-A141D89ACA78}"/>
              </a:ext>
            </a:extLst>
          </p:cNvPr>
          <p:cNvSpPr txBox="1">
            <a:spLocks/>
          </p:cNvSpPr>
          <p:nvPr/>
        </p:nvSpPr>
        <p:spPr>
          <a:xfrm>
            <a:off x="4752438" y="1993455"/>
            <a:ext cx="1999418" cy="315134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Data </a:t>
            </a:r>
            <a:r>
              <a:rPr lang="it-IT" err="1"/>
              <a:t>conversion</a:t>
            </a:r>
            <a:r>
              <a:rPr lang="it-IT"/>
              <a:t> </a:t>
            </a:r>
          </a:p>
        </p:txBody>
      </p:sp>
      <p:sp>
        <p:nvSpPr>
          <p:cNvPr id="50" name="Segnaposto testo 11">
            <a:extLst>
              <a:ext uri="{FF2B5EF4-FFF2-40B4-BE49-F238E27FC236}">
                <a16:creationId xmlns:a16="http://schemas.microsoft.com/office/drawing/2014/main" id="{11400192-A5C6-C941-8613-E7DF0C555049}"/>
              </a:ext>
            </a:extLst>
          </p:cNvPr>
          <p:cNvSpPr txBox="1">
            <a:spLocks/>
          </p:cNvSpPr>
          <p:nvPr/>
        </p:nvSpPr>
        <p:spPr>
          <a:xfrm>
            <a:off x="7812155" y="1831640"/>
            <a:ext cx="1999418" cy="315134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err="1"/>
              <a:t>Voxel</a:t>
            </a:r>
            <a:r>
              <a:rPr lang="en-GB"/>
              <a:t> </a:t>
            </a:r>
            <a:r>
              <a:rPr lang="en-GB" err="1"/>
              <a:t>Preprocessing</a:t>
            </a:r>
            <a:endParaRPr lang="it-IT"/>
          </a:p>
        </p:txBody>
      </p:sp>
      <p:sp>
        <p:nvSpPr>
          <p:cNvPr id="52" name="Segnaposto testo 11">
            <a:extLst>
              <a:ext uri="{FF2B5EF4-FFF2-40B4-BE49-F238E27FC236}">
                <a16:creationId xmlns:a16="http://schemas.microsoft.com/office/drawing/2014/main" id="{53C9690B-2692-9743-8205-ED61822224CE}"/>
              </a:ext>
            </a:extLst>
          </p:cNvPr>
          <p:cNvSpPr txBox="1">
            <a:spLocks/>
          </p:cNvSpPr>
          <p:nvPr/>
        </p:nvSpPr>
        <p:spPr>
          <a:xfrm>
            <a:off x="2104013" y="2734923"/>
            <a:ext cx="1999418" cy="261029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Poppins SemiBold" panose="000007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Poppins SemiBold"/>
              </a:rPr>
              <a:t>Implementation  of  the extraction of  a 128×128×64 crop centered at the midpoint between the right and left coronary ostia.</a:t>
            </a:r>
            <a:r>
              <a:rPr lang="it-IT" dirty="0">
                <a:cs typeface="Poppins SemiBold"/>
              </a:rPr>
              <a:t> </a:t>
            </a:r>
          </a:p>
        </p:txBody>
      </p:sp>
      <p:sp>
        <p:nvSpPr>
          <p:cNvPr id="53" name="Segnaposto testo 11">
            <a:extLst>
              <a:ext uri="{FF2B5EF4-FFF2-40B4-BE49-F238E27FC236}">
                <a16:creationId xmlns:a16="http://schemas.microsoft.com/office/drawing/2014/main" id="{0609A031-B937-634B-9E1A-01AB97D814D4}"/>
              </a:ext>
            </a:extLst>
          </p:cNvPr>
          <p:cNvSpPr txBox="1">
            <a:spLocks/>
          </p:cNvSpPr>
          <p:nvPr/>
        </p:nvSpPr>
        <p:spPr>
          <a:xfrm>
            <a:off x="4963552" y="2734923"/>
            <a:ext cx="2179526" cy="261029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Poppins SemiBold" panose="000007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cs typeface="Poppins SemiBold"/>
              </a:rPr>
              <a:t>The CT remains in .</a:t>
            </a:r>
            <a:r>
              <a:rPr lang="en-US" dirty="0" err="1">
                <a:cs typeface="Poppins SemiBold"/>
              </a:rPr>
              <a:t>nii.gz</a:t>
            </a:r>
            <a:r>
              <a:rPr lang="en-US" dirty="0">
                <a:cs typeface="Poppins SemiBold"/>
              </a:rPr>
              <a:t> format. </a:t>
            </a:r>
            <a:endParaRPr lang="it-IT" dirty="0">
              <a:cs typeface="Poppins SemiBold"/>
            </a:endParaRPr>
          </a:p>
          <a:p>
            <a:pPr algn="ctr"/>
            <a:r>
              <a:rPr lang="en-US" dirty="0"/>
              <a:t>The landmarks are stored in LPS (physical coordinates) and IJK (image coordinates) formats,.</a:t>
            </a:r>
          </a:p>
          <a:p>
            <a:pPr algn="ctr"/>
            <a:r>
              <a:rPr lang="en-US" dirty="0">
                <a:cs typeface="Poppins SemiBold"/>
              </a:rPr>
              <a:t>All saved in a .csv file, which is directly split into training, validation, and test sets</a:t>
            </a:r>
            <a:endParaRPr lang="it-IT" dirty="0">
              <a:cs typeface="Poppins SemiBold"/>
            </a:endParaRPr>
          </a:p>
        </p:txBody>
      </p:sp>
      <p:sp>
        <p:nvSpPr>
          <p:cNvPr id="54" name="Segnaposto testo 11">
            <a:extLst>
              <a:ext uri="{FF2B5EF4-FFF2-40B4-BE49-F238E27FC236}">
                <a16:creationId xmlns:a16="http://schemas.microsoft.com/office/drawing/2014/main" id="{028E3292-385D-9F45-8A99-2D6DA14103BC}"/>
              </a:ext>
            </a:extLst>
          </p:cNvPr>
          <p:cNvSpPr txBox="1">
            <a:spLocks/>
          </p:cNvSpPr>
          <p:nvPr/>
        </p:nvSpPr>
        <p:spPr>
          <a:xfrm>
            <a:off x="7939153" y="2725025"/>
            <a:ext cx="1999418" cy="262019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Poppins SemiBold" panose="000007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cs typeface="Poppins SemiBold"/>
              </a:rPr>
              <a:t>All volumes are going to be processed to ensure a fixed isotropic voxel size of 1 mm.</a:t>
            </a:r>
            <a:endParaRPr lang="it-IT">
              <a:cs typeface="Poppins SemiBold"/>
            </a:endParaRPr>
          </a:p>
          <a:p>
            <a:pPr algn="ctr"/>
            <a:r>
              <a:rPr lang="en-US">
                <a:cs typeface="Poppins SemiBold"/>
              </a:rPr>
              <a:t>The landmark coordinates in the IJK system for the resampled volumes are also saved in the .csv file.</a:t>
            </a:r>
          </a:p>
        </p:txBody>
      </p:sp>
    </p:spTree>
    <p:extLst>
      <p:ext uri="{BB962C8B-B14F-4D97-AF65-F5344CB8AC3E}">
        <p14:creationId xmlns:p14="http://schemas.microsoft.com/office/powerpoint/2010/main" val="1365845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9B973659-8CAF-584A-A5B5-5C5A4B78D5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it-IT"/>
              <a:t>Pipeline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3670337A-F827-4A44-87B2-13774DA292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88842" y="2218354"/>
            <a:ext cx="7368316" cy="3356386"/>
          </a:xfrm>
        </p:spPr>
        <p:txBody>
          <a:bodyPr lIns="91440" tIns="45720" rIns="91440" bIns="45720" anchor="ctr"/>
          <a:lstStyle/>
          <a:p>
            <a:r>
              <a:rPr lang="en-US">
                <a:latin typeface="Poppins"/>
                <a:cs typeface="Poppins"/>
              </a:rPr>
              <a:t>To support efficient and standardized data handling, a custom data pipeline could be developed using </a:t>
            </a:r>
            <a:r>
              <a:rPr lang="en-US">
                <a:solidFill>
                  <a:srgbClr val="009CDE"/>
                </a:solidFill>
                <a:latin typeface="Poppins"/>
                <a:cs typeface="Poppins"/>
              </a:rPr>
              <a:t>MONAI</a:t>
            </a:r>
            <a:r>
              <a:rPr lang="en-US">
                <a:latin typeface="Poppins"/>
                <a:cs typeface="Poppins"/>
              </a:rPr>
              <a:t> (Medical Open Network for AI) framework to:</a:t>
            </a:r>
          </a:p>
          <a:p>
            <a:pPr>
              <a:buFont typeface="Arial" pitchFamily="34" charset="0"/>
              <a:buChar char="•"/>
            </a:pPr>
            <a:r>
              <a:rPr lang="en-US"/>
              <a:t>Load CT volumes and landmark annotations</a:t>
            </a:r>
          </a:p>
          <a:p>
            <a:pPr>
              <a:buFont typeface="Arial" pitchFamily="34" charset="0"/>
              <a:buChar char="•"/>
            </a:pPr>
            <a:r>
              <a:rPr lang="en-US"/>
              <a:t>Apply preprocessing steps</a:t>
            </a:r>
          </a:p>
          <a:p>
            <a:pPr>
              <a:buFont typeface="Arial" pitchFamily="34" charset="0"/>
              <a:buChar char="•"/>
            </a:pPr>
            <a:r>
              <a:rPr lang="en-US"/>
              <a:t>Extract patch and generate proposals within each patch based on ground-truth coordinates </a:t>
            </a:r>
          </a:p>
          <a:p>
            <a:pPr>
              <a:buChar char="•"/>
            </a:pPr>
            <a:endParaRPr lang="en-US">
              <a:latin typeface="Poppins"/>
              <a:cs typeface="Poppins"/>
            </a:endParaRPr>
          </a:p>
          <a:p>
            <a:r>
              <a:rPr lang="en-US">
                <a:latin typeface="Poppins"/>
                <a:cs typeface="Poppins"/>
              </a:rPr>
              <a:t>To ensure the integrity and effectiveness of the preprocessing pipeline, </a:t>
            </a:r>
            <a:r>
              <a:rPr lang="en-US">
                <a:solidFill>
                  <a:srgbClr val="009CDE"/>
                </a:solidFill>
                <a:latin typeface="Poppins"/>
                <a:cs typeface="Poppins"/>
              </a:rPr>
              <a:t>custom debugging modules</a:t>
            </a:r>
            <a:r>
              <a:rPr lang="en-US">
                <a:latin typeface="Poppins"/>
                <a:cs typeface="Poppins"/>
              </a:rPr>
              <a:t> could be implemented. These modules could intercept and store intermediate outputs for qualitative evaluation, including:</a:t>
            </a:r>
          </a:p>
          <a:p>
            <a:pPr>
              <a:buFont typeface="Arial" pitchFamily="34" charset="0"/>
              <a:buChar char="•"/>
            </a:pPr>
            <a:r>
              <a:rPr lang="en-US"/>
              <a:t>Extracted patches</a:t>
            </a:r>
          </a:p>
          <a:p>
            <a:pPr>
              <a:buFont typeface="Arial" pitchFamily="34" charset="0"/>
              <a:buChar char="•"/>
            </a:pPr>
            <a:r>
              <a:rPr lang="en-US"/>
              <a:t>Proposal coordinates derived from both ground-truth and model predictions.</a:t>
            </a:r>
          </a:p>
          <a:p>
            <a:endParaRPr lang="it-IT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8EC84AC8-FEE9-D443-98FA-EFF5EF0DA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3BA15-FBD2-4A06-BE22-2CD24AC2FD11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9408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5E6431FC-A852-4D4A-9EF0-C519F470FF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50086" y="2290126"/>
            <a:ext cx="7962490" cy="227774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/>
              <a:t>MARL-for-ALD</a:t>
            </a:r>
            <a:r>
              <a:rPr lang="en-GB"/>
              <a:t>: </a:t>
            </a:r>
            <a:r>
              <a:rPr lang="en-GB" u="sng">
                <a:hlinkClick r:id="rId3"/>
              </a:rPr>
              <a:t>https://github.com/thanosvlo/MARL-for-Anatomical-Landmark-Detection</a:t>
            </a:r>
            <a:endParaRPr lang="it-IT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/>
              <a:t>H3DE-Net</a:t>
            </a:r>
            <a:r>
              <a:rPr lang="en-GB"/>
              <a:t>: </a:t>
            </a:r>
            <a:r>
              <a:rPr lang="en-GB" u="sng">
                <a:hlinkClick r:id="rId4"/>
              </a:rPr>
              <a:t>https://github.com/ECNUACRush/H3DE-Net</a:t>
            </a:r>
            <a:endParaRPr lang="it-IT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err="1"/>
              <a:t>Rl</a:t>
            </a:r>
            <a:r>
              <a:rPr lang="en-GB" b="1"/>
              <a:t>-medical (</a:t>
            </a:r>
            <a:r>
              <a:rPr lang="en-GB" b="1" err="1"/>
              <a:t>Alansary</a:t>
            </a:r>
            <a:r>
              <a:rPr lang="en-GB" b="1"/>
              <a:t>)</a:t>
            </a:r>
            <a:r>
              <a:rPr lang="en-GB"/>
              <a:t>: </a:t>
            </a:r>
            <a:r>
              <a:rPr lang="en-GB" u="sng">
                <a:hlinkClick r:id="rId5"/>
              </a:rPr>
              <a:t>https://github.com/amiralansary/rl-medical</a:t>
            </a:r>
            <a:endParaRPr lang="it-IT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err="1"/>
              <a:t>Rl</a:t>
            </a:r>
            <a:r>
              <a:rPr lang="en-GB" b="1"/>
              <a:t>-medical (gml16)</a:t>
            </a:r>
            <a:r>
              <a:rPr lang="en-GB"/>
              <a:t>: </a:t>
            </a:r>
            <a:r>
              <a:rPr lang="en-GB" u="sng">
                <a:hlinkClick r:id="rId6"/>
              </a:rPr>
              <a:t>https://github.com/gml16/rl-medical</a:t>
            </a:r>
            <a:endParaRPr lang="it-IT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B197DAE-5C31-414B-8927-BC42BF2D5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3BA15-FBD2-4A06-BE22-2CD24AC2FD11}" type="slidenum">
              <a:rPr lang="it-IT" smtClean="0"/>
              <a:pPr/>
              <a:t>13</a:t>
            </a:fld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9BF7F0E-A516-964E-A633-699155F924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789673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632F64A-FA1F-7141-BBA3-87C5458D50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noProof="0"/>
              <a:t>Thank you!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2A28BDB-9B58-544F-86B7-54DC7A78D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3BA15-FBD2-4A06-BE22-2CD24AC2FD11}" type="slidenum">
              <a:rPr lang="it-IT" smtClean="0"/>
              <a:pPr/>
              <a:t>14</a:t>
            </a:fld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FC14848-9D61-C145-AFB0-0D981021AA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/>
              <a:t>Università Vita-Salute San Raffaele</a:t>
            </a:r>
          </a:p>
        </p:txBody>
      </p:sp>
    </p:spTree>
    <p:extLst>
      <p:ext uri="{BB962C8B-B14F-4D97-AF65-F5344CB8AC3E}">
        <p14:creationId xmlns:p14="http://schemas.microsoft.com/office/powerpoint/2010/main" val="536380628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UniSR">
      <a:dk1>
        <a:srgbClr val="000000"/>
      </a:dk1>
      <a:lt1>
        <a:srgbClr val="FFFFFF"/>
      </a:lt1>
      <a:dk2>
        <a:srgbClr val="333333"/>
      </a:dk2>
      <a:lt2>
        <a:srgbClr val="E6E6E6"/>
      </a:lt2>
      <a:accent1>
        <a:srgbClr val="009CDE"/>
      </a:accent1>
      <a:accent2>
        <a:srgbClr val="CB333B"/>
      </a:accent2>
      <a:accent3>
        <a:srgbClr val="A5A5A5"/>
      </a:accent3>
      <a:accent4>
        <a:srgbClr val="FFC72C"/>
      </a:accent4>
      <a:accent5>
        <a:srgbClr val="CB333B"/>
      </a:accent5>
      <a:accent6>
        <a:srgbClr val="3CA064"/>
      </a:accent6>
      <a:hlink>
        <a:srgbClr val="009CDE"/>
      </a:hlink>
      <a:folHlink>
        <a:srgbClr val="034A90"/>
      </a:folHlink>
    </a:clrScheme>
    <a:fontScheme name="Personalizzato 1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1824</Words>
  <Application>Microsoft Macintosh PowerPoint</Application>
  <PresentationFormat>Widescreen</PresentationFormat>
  <Paragraphs>204</Paragraphs>
  <Slides>14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 Math</vt:lpstr>
      <vt:lpstr>Poppins</vt:lpstr>
      <vt:lpstr>Poppins ExtraBold</vt:lpstr>
      <vt:lpstr>Poppins SemiBold</vt:lpstr>
      <vt:lpstr>Wingdings</vt:lpstr>
      <vt:lpstr>Master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 di Microsoft Office</dc:creator>
  <cp:lastModifiedBy>CAFFI GIULIA</cp:lastModifiedBy>
  <cp:revision>2</cp:revision>
  <cp:lastPrinted>2022-02-02T08:01:55Z</cp:lastPrinted>
  <dcterms:created xsi:type="dcterms:W3CDTF">2021-06-04T14:52:45Z</dcterms:created>
  <dcterms:modified xsi:type="dcterms:W3CDTF">2026-02-18T13:00:38Z</dcterms:modified>
</cp:coreProperties>
</file>